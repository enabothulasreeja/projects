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73" r:id="rId5"/>
    <p:sldId id="275" r:id="rId6"/>
    <p:sldId id="281" r:id="rId7"/>
    <p:sldId id="282" r:id="rId8"/>
    <p:sldId id="277" r:id="rId9"/>
    <p:sldId id="280" r:id="rId10"/>
    <p:sldId id="286" r:id="rId11"/>
    <p:sldId id="285" r:id="rId12"/>
    <p:sldId id="279" r:id="rId13"/>
    <p:sldId id="276" r:id="rId14"/>
    <p:sldId id="287" r:id="rId15"/>
    <p:sldId id="284" r:id="rId16"/>
    <p:sldId id="289" r:id="rId17"/>
    <p:sldId id="288" r:id="rId18"/>
    <p:sldId id="278" r:id="rId19"/>
    <p:sldId id="274" r:id="rId2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D0C2FBE-B16A-48D6-99C1-77FC33224BF0}">
          <p14:sldIdLst>
            <p14:sldId id="273"/>
            <p14:sldId id="275"/>
            <p14:sldId id="281"/>
            <p14:sldId id="282"/>
            <p14:sldId id="277"/>
            <p14:sldId id="280"/>
            <p14:sldId id="286"/>
            <p14:sldId id="285"/>
            <p14:sldId id="279"/>
            <p14:sldId id="276"/>
            <p14:sldId id="287"/>
            <p14:sldId id="284"/>
            <p14:sldId id="289"/>
            <p14:sldId id="288"/>
            <p14:sldId id="278"/>
            <p14:sldId id="274"/>
          </p14:sldIdLst>
        </p14:section>
      </p14:sectionLst>
    </p:ex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8BEB2"/>
    <a:srgbClr val="753F2D"/>
    <a:srgbClr val="5E3324"/>
    <a:srgbClr val="8A4C34"/>
    <a:srgbClr val="815550"/>
    <a:srgbClr val="A3573E"/>
    <a:srgbClr val="E7E6E6"/>
    <a:srgbClr val="C28D6D"/>
    <a:srgbClr val="D2986F"/>
    <a:srgbClr val="333B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27D387-2262-465E-8140-5AD9C9F9134C}" v="8" dt="2025-05-22T17:13:22.416"/>
    <p1510:client id="{3E0CBB70-9134-9338-E4D4-485FF13A8BC1}" v="1" dt="2025-05-22T15:50:28.837"/>
    <p1510:client id="{5FD167A2-FAB6-DD08-76ED-BBD4902681BE}" v="63" dt="2025-05-23T06:07:23.389"/>
    <p1510:client id="{70E487ED-B83C-4F7F-B7E1-62E8D936079D}" v="1862" dt="2025-05-22T15:30:17.583"/>
    <p1510:client id="{9500F507-E9A2-459E-ABF4-EE2985F31F88}" v="4" dt="2025-05-22T16:29:19.006"/>
    <p1510:client id="{A80BD59A-2CF1-4221-A6EF-24685172769D}" v="667" dt="2025-05-23T09:22:04.376"/>
    <p1510:client id="{F79D5CB1-25AD-4246-A7CE-9D442EC8509B}" v="5" dt="2025-05-23T04:10:06.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5/23/2025</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5/23/2025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2032439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4</a:t>
            </a:fld>
            <a:endParaRPr lang="en-US" noProof="0"/>
          </a:p>
        </p:txBody>
      </p:sp>
    </p:spTree>
    <p:extLst>
      <p:ext uri="{BB962C8B-B14F-4D97-AF65-F5344CB8AC3E}">
        <p14:creationId xmlns:p14="http://schemas.microsoft.com/office/powerpoint/2010/main" val="1673130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a:t>Click to edit Master title style</a:t>
            </a:r>
            <a:endParaRPr lang="en-PK"/>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a:t>Click to edit Master text styles</a:t>
            </a:r>
          </a:p>
          <a:p>
            <a:pPr lvl="1"/>
            <a:r>
              <a:rPr lang="en-US"/>
              <a:t>Second level</a:t>
            </a:r>
          </a:p>
          <a:p>
            <a:pPr lvl="2"/>
            <a:endParaRPr lang="en-PK"/>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a:t>Click to edit Master title style</a:t>
            </a:r>
            <a:endParaRPr lang="en-PK"/>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a:t>Presentation title</a:t>
            </a:r>
            <a:endParaRPr lang="en-PK"/>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s://storage.googleapis.com/srilanka-p2/bquxjob_4b5a17c6_196f920182d.csv"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a:xfrm>
            <a:off x="1361940" y="746819"/>
            <a:ext cx="7134044" cy="3609674"/>
          </a:xfrm>
        </p:spPr>
        <p:txBody>
          <a:bodyPr>
            <a:normAutofit/>
          </a:bodyPr>
          <a:lstStyle/>
          <a:p>
            <a:r>
              <a:rPr lang="en-US" sz="8000" b="1">
                <a:cs typeface="Arial"/>
              </a:rPr>
              <a:t>GLOBAL </a:t>
            </a:r>
            <a:br>
              <a:rPr lang="en-US" sz="8000" b="1">
                <a:cs typeface="Arial"/>
              </a:rPr>
            </a:br>
            <a:r>
              <a:rPr lang="en-US" sz="8000" b="1">
                <a:cs typeface="Arial"/>
              </a:rPr>
              <a:t>SALES ANALYSIS</a:t>
            </a: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a:xfrm>
            <a:off x="7677911" y="3264697"/>
            <a:ext cx="4364967" cy="2454387"/>
          </a:xfrm>
        </p:spPr>
        <p:txBody>
          <a:bodyPr vert="horz" lIns="91440" tIns="45720" rIns="91440" bIns="45720" rtlCol="0" anchor="t">
            <a:noAutofit/>
          </a:bodyPr>
          <a:lstStyle/>
          <a:p>
            <a:endParaRPr lang="en-US">
              <a:cs typeface="Arial"/>
            </a:endParaRPr>
          </a:p>
          <a:p>
            <a:endParaRPr lang="en-US">
              <a:cs typeface="Arial"/>
            </a:endParaRPr>
          </a:p>
          <a:p>
            <a:endParaRPr lang="en-US">
              <a:cs typeface="Arial"/>
            </a:endParaRPr>
          </a:p>
          <a:p>
            <a:r>
              <a:rPr lang="en-US">
                <a:cs typeface="Arial"/>
              </a:rPr>
              <a:t>SYED SAAD</a:t>
            </a:r>
            <a:endParaRPr lang="en-US"/>
          </a:p>
          <a:p>
            <a:r>
              <a:rPr lang="en-US">
                <a:cs typeface="Arial"/>
              </a:rPr>
              <a:t>KOWSHIK CHOWDARY</a:t>
            </a:r>
          </a:p>
          <a:p>
            <a:r>
              <a:rPr lang="en-US">
                <a:cs typeface="Arial"/>
              </a:rPr>
              <a:t>CHEKITH SHANKARPALLY</a:t>
            </a:r>
          </a:p>
          <a:p>
            <a:r>
              <a:rPr lang="en-US">
                <a:cs typeface="Arial"/>
              </a:rPr>
              <a:t>MADHAN KISHORE</a:t>
            </a:r>
          </a:p>
          <a:p>
            <a:r>
              <a:rPr lang="en-US">
                <a:cs typeface="Arial"/>
              </a:rPr>
              <a:t>SREEJA ENABOTHULA</a:t>
            </a:r>
          </a:p>
        </p:txBody>
      </p:sp>
    </p:spTree>
    <p:extLst>
      <p:ext uri="{BB962C8B-B14F-4D97-AF65-F5344CB8AC3E}">
        <p14:creationId xmlns:p14="http://schemas.microsoft.com/office/powerpoint/2010/main" val="28631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E79730E-E638-275F-6C74-85FDCE30C43F}"/>
              </a:ext>
            </a:extLst>
          </p:cNvPr>
          <p:cNvSpPr>
            <a:spLocks noGrp="1"/>
          </p:cNvSpPr>
          <p:nvPr>
            <p:ph type="ftr" sz="quarter" idx="11"/>
          </p:nvPr>
        </p:nvSpPr>
        <p:spPr/>
        <p:txBody>
          <a:bodyPr/>
          <a:lstStyle/>
          <a:p>
            <a:r>
              <a:rPr lang="en-US">
                <a:cs typeface="Arial"/>
              </a:rPr>
              <a:t>Global Sales Analysis</a:t>
            </a:r>
          </a:p>
        </p:txBody>
      </p:sp>
      <p:sp>
        <p:nvSpPr>
          <p:cNvPr id="4" name="Slide Number Placeholder 3">
            <a:extLst>
              <a:ext uri="{FF2B5EF4-FFF2-40B4-BE49-F238E27FC236}">
                <a16:creationId xmlns:a16="http://schemas.microsoft.com/office/drawing/2014/main" id="{C0B85CC1-CC9E-26A5-C05A-E64ABEDD931D}"/>
              </a:ext>
            </a:extLst>
          </p:cNvPr>
          <p:cNvSpPr>
            <a:spLocks noGrp="1"/>
          </p:cNvSpPr>
          <p:nvPr>
            <p:ph type="sldNum" sz="quarter" idx="12"/>
          </p:nvPr>
        </p:nvSpPr>
        <p:spPr/>
        <p:txBody>
          <a:bodyPr/>
          <a:lstStyle/>
          <a:p>
            <a:fld id="{5BFCF61C-3B18-4C03-8326-CC3B32D710C9}" type="slidenum">
              <a:rPr lang="en-US" smtClean="0"/>
              <a:pPr/>
              <a:t>2</a:t>
            </a:fld>
            <a:endParaRPr lang="en-US"/>
          </a:p>
        </p:txBody>
      </p:sp>
      <p:sp>
        <p:nvSpPr>
          <p:cNvPr id="2" name="Title 1">
            <a:extLst>
              <a:ext uri="{FF2B5EF4-FFF2-40B4-BE49-F238E27FC236}">
                <a16:creationId xmlns:a16="http://schemas.microsoft.com/office/drawing/2014/main" id="{4379103A-7E0F-A503-491C-874CA2A16BC0}"/>
              </a:ext>
            </a:extLst>
          </p:cNvPr>
          <p:cNvSpPr>
            <a:spLocks noGrp="1"/>
          </p:cNvSpPr>
          <p:nvPr>
            <p:ph type="title"/>
          </p:nvPr>
        </p:nvSpPr>
        <p:spPr/>
        <p:txBody>
          <a:bodyPr/>
          <a:lstStyle/>
          <a:p>
            <a:r>
              <a:rPr lang="en-US" sz="6000" b="1">
                <a:cs typeface="Arial"/>
              </a:rPr>
              <a:t>ABSTRACT</a:t>
            </a:r>
            <a:endParaRPr lang="en-US" sz="6000" b="1"/>
          </a:p>
        </p:txBody>
      </p:sp>
      <p:sp>
        <p:nvSpPr>
          <p:cNvPr id="5" name="Content Placeholder 4">
            <a:extLst>
              <a:ext uri="{FF2B5EF4-FFF2-40B4-BE49-F238E27FC236}">
                <a16:creationId xmlns:a16="http://schemas.microsoft.com/office/drawing/2014/main" id="{DA7A49E4-DCE3-62DE-B6D1-539EBFFFE689}"/>
              </a:ext>
            </a:extLst>
          </p:cNvPr>
          <p:cNvSpPr>
            <a:spLocks noGrp="1"/>
          </p:cNvSpPr>
          <p:nvPr>
            <p:ph type="body" sz="quarter" idx="13"/>
          </p:nvPr>
        </p:nvSpPr>
        <p:spPr>
          <a:xfrm>
            <a:off x="189150" y="3066920"/>
            <a:ext cx="11326598" cy="3509781"/>
          </a:xfrm>
        </p:spPr>
        <p:txBody>
          <a:bodyPr vert="horz" lIns="91440" tIns="45720" rIns="91440" bIns="45720" rtlCol="0" anchor="t">
            <a:noAutofit/>
          </a:bodyPr>
          <a:lstStyle/>
          <a:p>
            <a:pPr algn="just"/>
            <a:r>
              <a:rPr lang="en-US" b="0" dirty="0">
                <a:ea typeface="+mn-lt"/>
                <a:cs typeface="+mn-lt"/>
              </a:rPr>
              <a:t>The Global Sales Analysis Project aims to design and implement a robust ETL (Extract, Transform, Load) pipeline for integrating and analyzing sales data from multiple countries using Google Cloud Platform (GCP) services. The project consolidates data from eight countries including India, Norway, Hong Kong, Oman, Germany, and Qatar each providing data in different formats such as CSV, JSON, Excel, and relational databases (MySQL, PostgreSQL, SQL Server).The ETL process involves data ingestion into Google</a:t>
            </a:r>
            <a:r>
              <a:rPr lang="en-US" dirty="0">
                <a:ea typeface="+mn-lt"/>
                <a:cs typeface="+mn-lt"/>
              </a:rPr>
              <a:t> </a:t>
            </a:r>
            <a:r>
              <a:rPr lang="en-US" b="0" dirty="0">
                <a:ea typeface="+mn-lt"/>
                <a:cs typeface="+mn-lt"/>
              </a:rPr>
              <a:t>Cloud Storage (GCS), processing and transformation using Airflow, and loading into </a:t>
            </a:r>
            <a:r>
              <a:rPr lang="en-US" b="0" dirty="0" err="1">
                <a:ea typeface="+mn-lt"/>
                <a:cs typeface="+mn-lt"/>
              </a:rPr>
              <a:t>BigQuery</a:t>
            </a:r>
            <a:r>
              <a:rPr lang="en-US" b="0" dirty="0">
                <a:ea typeface="+mn-lt"/>
                <a:cs typeface="+mn-lt"/>
              </a:rPr>
              <a:t> for centralized storage and analysis. Key transformations include currency conversion to INR, null handling, and data standardization. The processed data is then visualized through Looker Studio, providing interactive dashboards and detailed reports for stakeholders.</a:t>
            </a:r>
            <a:endParaRPr lang="en-US" dirty="0">
              <a:cs typeface="Arial"/>
            </a:endParaRPr>
          </a:p>
          <a:p>
            <a:endParaRPr lang="en-US"/>
          </a:p>
          <a:p>
            <a:endParaRPr lang="en-US"/>
          </a:p>
        </p:txBody>
      </p:sp>
    </p:spTree>
    <p:extLst>
      <p:ext uri="{BB962C8B-B14F-4D97-AF65-F5344CB8AC3E}">
        <p14:creationId xmlns:p14="http://schemas.microsoft.com/office/powerpoint/2010/main" val="3551793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1133-2B2D-CB5C-25A3-A6BBC6AC48F6}"/>
              </a:ext>
            </a:extLst>
          </p:cNvPr>
          <p:cNvSpPr>
            <a:spLocks noGrp="1"/>
          </p:cNvSpPr>
          <p:nvPr>
            <p:ph type="title"/>
          </p:nvPr>
        </p:nvSpPr>
        <p:spPr/>
        <p:txBody>
          <a:bodyPr/>
          <a:lstStyle/>
          <a:p>
            <a:r>
              <a:rPr lang="en-US"/>
              <a:t>Technologies USED</a:t>
            </a:r>
            <a:br>
              <a:rPr lang="en-US"/>
            </a:br>
            <a:endParaRPr lang="en-US"/>
          </a:p>
        </p:txBody>
      </p:sp>
      <p:sp>
        <p:nvSpPr>
          <p:cNvPr id="10" name="Footer Placeholder 9">
            <a:extLst>
              <a:ext uri="{FF2B5EF4-FFF2-40B4-BE49-F238E27FC236}">
                <a16:creationId xmlns:a16="http://schemas.microsoft.com/office/drawing/2014/main" id="{15C361D4-2114-E276-681B-0EDACAD8E3D4}"/>
              </a:ext>
            </a:extLst>
          </p:cNvPr>
          <p:cNvSpPr>
            <a:spLocks noGrp="1"/>
          </p:cNvSpPr>
          <p:nvPr>
            <p:ph type="ftr" sz="quarter" idx="11"/>
          </p:nvPr>
        </p:nvSpPr>
        <p:spPr/>
        <p:txBody>
          <a:bodyPr/>
          <a:lstStyle/>
          <a:p>
            <a:r>
              <a:rPr lang="en-US">
                <a:cs typeface="Arial"/>
              </a:rPr>
              <a:t>Global Sales Analysis</a:t>
            </a:r>
          </a:p>
        </p:txBody>
      </p:sp>
      <p:sp>
        <p:nvSpPr>
          <p:cNvPr id="3" name="Text Placeholder 2">
            <a:extLst>
              <a:ext uri="{FF2B5EF4-FFF2-40B4-BE49-F238E27FC236}">
                <a16:creationId xmlns:a16="http://schemas.microsoft.com/office/drawing/2014/main" id="{330480BD-3EF5-7A7E-9E81-E73191A1D49D}"/>
              </a:ext>
            </a:extLst>
          </p:cNvPr>
          <p:cNvSpPr>
            <a:spLocks noGrp="1"/>
          </p:cNvSpPr>
          <p:nvPr>
            <p:ph type="body" sz="quarter" idx="13"/>
          </p:nvPr>
        </p:nvSpPr>
        <p:spPr/>
        <p:txBody>
          <a:bodyPr vert="horz" lIns="91440" tIns="45720" rIns="91440" bIns="45720" rtlCol="0" anchor="t">
            <a:noAutofit/>
          </a:bodyPr>
          <a:lstStyle/>
          <a:p>
            <a:endParaRPr lang="en-US">
              <a:cs typeface="Arial"/>
            </a:endParaRPr>
          </a:p>
          <a:p>
            <a:endParaRPr lang="en-US"/>
          </a:p>
        </p:txBody>
      </p:sp>
      <p:sp>
        <p:nvSpPr>
          <p:cNvPr id="4" name="Text Placeholder 3">
            <a:extLst>
              <a:ext uri="{FF2B5EF4-FFF2-40B4-BE49-F238E27FC236}">
                <a16:creationId xmlns:a16="http://schemas.microsoft.com/office/drawing/2014/main" id="{C86737C8-4322-77C9-4E34-94E5EE136DBC}"/>
              </a:ext>
            </a:extLst>
          </p:cNvPr>
          <p:cNvSpPr>
            <a:spLocks noGrp="1"/>
          </p:cNvSpPr>
          <p:nvPr>
            <p:ph type="body" sz="quarter" idx="15"/>
          </p:nvPr>
        </p:nvSpPr>
        <p:spPr>
          <a:xfrm>
            <a:off x="408093" y="3080727"/>
            <a:ext cx="10963768" cy="3037416"/>
          </a:xfrm>
        </p:spPr>
        <p:txBody>
          <a:bodyPr vert="horz" lIns="91440" tIns="45720" rIns="91440" bIns="45720" rtlCol="0" anchor="t">
            <a:noAutofit/>
          </a:bodyPr>
          <a:lstStyle/>
          <a:p>
            <a:pPr marL="283210" indent="-283210"/>
            <a:r>
              <a:rPr lang="en-US" sz="2000" b="1">
                <a:ea typeface="+mn-lt"/>
                <a:cs typeface="+mn-lt"/>
              </a:rPr>
              <a:t>Cloud Storage (GCS)</a:t>
            </a:r>
            <a:r>
              <a:rPr lang="en-US" sz="2000">
                <a:ea typeface="+mn-lt"/>
                <a:cs typeface="+mn-lt"/>
              </a:rPr>
              <a:t> used to store and manage file-based data (CSV, Excel, JSON).</a:t>
            </a:r>
          </a:p>
          <a:p>
            <a:pPr marL="283210" indent="-283210"/>
            <a:r>
              <a:rPr lang="en-US" sz="2000" b="1">
                <a:ea typeface="+mn-lt"/>
                <a:cs typeface="+mn-lt"/>
              </a:rPr>
              <a:t>Cloud SQL</a:t>
            </a:r>
            <a:r>
              <a:rPr lang="en-US" sz="2000">
                <a:ea typeface="+mn-lt"/>
                <a:cs typeface="+mn-lt"/>
              </a:rPr>
              <a:t> used to manage relational databases (MySQL, SQL Server) for India, Oman, Germany, Qatar.</a:t>
            </a:r>
          </a:p>
          <a:p>
            <a:pPr marL="283210" indent="-283210"/>
            <a:r>
              <a:rPr lang="en-US" sz="2000" b="1" err="1">
                <a:cs typeface="Arial"/>
              </a:rPr>
              <a:t>AlloyDB</a:t>
            </a:r>
            <a:r>
              <a:rPr lang="en-US" sz="2000">
                <a:cs typeface="Arial"/>
              </a:rPr>
              <a:t> used to </a:t>
            </a:r>
            <a:r>
              <a:rPr lang="en-US" sz="2000">
                <a:ea typeface="+mn-lt"/>
                <a:cs typeface="+mn-lt"/>
              </a:rPr>
              <a:t>host PostgreSQL database for Norway.</a:t>
            </a:r>
          </a:p>
          <a:p>
            <a:pPr marL="283210" indent="-283210"/>
            <a:r>
              <a:rPr lang="en-US" sz="2000" b="1">
                <a:ea typeface="+mn-lt"/>
                <a:cs typeface="+mn-lt"/>
              </a:rPr>
              <a:t>Cloud Composer (Airflow)</a:t>
            </a:r>
            <a:r>
              <a:rPr lang="en-US" sz="2000">
                <a:ea typeface="+mn-lt"/>
                <a:cs typeface="+mn-lt"/>
              </a:rPr>
              <a:t> used to orchestrate and schedule ETL workflows.</a:t>
            </a:r>
          </a:p>
          <a:p>
            <a:pPr marL="283210" indent="-283210"/>
            <a:r>
              <a:rPr lang="en-US" sz="2000" b="1" err="1">
                <a:ea typeface="+mn-lt"/>
                <a:cs typeface="+mn-lt"/>
              </a:rPr>
              <a:t>BigQuery</a:t>
            </a:r>
            <a:r>
              <a:rPr lang="en-US" sz="2000">
                <a:ea typeface="+mn-lt"/>
                <a:cs typeface="+mn-lt"/>
              </a:rPr>
              <a:t> used to central data warehouse for cleaned, unified, and transformed sales data.</a:t>
            </a:r>
            <a:endParaRPr lang="en-US" sz="2000">
              <a:cs typeface="Arial"/>
            </a:endParaRPr>
          </a:p>
          <a:p>
            <a:pPr marL="283210" indent="-283210"/>
            <a:r>
              <a:rPr lang="en-US" sz="2000" b="1" err="1">
                <a:ea typeface="+mn-lt"/>
                <a:cs typeface="+mn-lt"/>
              </a:rPr>
              <a:t>BigQuery</a:t>
            </a:r>
            <a:r>
              <a:rPr lang="en-US" sz="2000" b="1">
                <a:ea typeface="+mn-lt"/>
                <a:cs typeface="+mn-lt"/>
              </a:rPr>
              <a:t> ML</a:t>
            </a:r>
            <a:r>
              <a:rPr lang="en-US" sz="2000">
                <a:ea typeface="+mn-lt"/>
                <a:cs typeface="+mn-lt"/>
              </a:rPr>
              <a:t> used to forecast next month’s sales using built-in ML models.</a:t>
            </a:r>
            <a:endParaRPr lang="en-US" sz="2000">
              <a:cs typeface="Arial"/>
            </a:endParaRPr>
          </a:p>
          <a:p>
            <a:pPr marL="283210" indent="-283210"/>
            <a:r>
              <a:rPr lang="en-US" sz="2000" b="1">
                <a:ea typeface="+mn-lt"/>
                <a:cs typeface="+mn-lt"/>
              </a:rPr>
              <a:t>Looker Studio</a:t>
            </a:r>
            <a:r>
              <a:rPr lang="en-US" sz="2000">
                <a:ea typeface="+mn-lt"/>
                <a:cs typeface="+mn-lt"/>
              </a:rPr>
              <a:t> used to build interactive dashboards and visualizations for stakeholders.</a:t>
            </a:r>
            <a:endParaRPr lang="en-US" sz="2000">
              <a:cs typeface="Arial"/>
            </a:endParaRPr>
          </a:p>
          <a:p>
            <a:pPr marL="283210" indent="-283210"/>
            <a:endParaRPr lang="en-US" sz="2000">
              <a:cs typeface="Arial"/>
            </a:endParaRPr>
          </a:p>
        </p:txBody>
      </p:sp>
      <p:sp>
        <p:nvSpPr>
          <p:cNvPr id="11" name="Slide Number Placeholder 10">
            <a:extLst>
              <a:ext uri="{FF2B5EF4-FFF2-40B4-BE49-F238E27FC236}">
                <a16:creationId xmlns:a16="http://schemas.microsoft.com/office/drawing/2014/main" id="{F8FC4DAD-8F22-40DC-8133-22BF52217FB8}"/>
              </a:ext>
            </a:extLst>
          </p:cNvPr>
          <p:cNvSpPr>
            <a:spLocks noGrp="1"/>
          </p:cNvSpPr>
          <p:nvPr>
            <p:ph type="sldNum" sz="quarter" idx="12"/>
          </p:nvPr>
        </p:nvSpPr>
        <p:spPr/>
        <p:txBody>
          <a:bodyPr/>
          <a:lstStyle/>
          <a:p>
            <a:fld id="{5BFCF61C-3B18-4C03-8326-CC3B32D710C9}" type="slidenum">
              <a:rPr lang="en-US" smtClean="0"/>
              <a:pPr/>
              <a:t>3</a:t>
            </a:fld>
            <a:endParaRPr lang="en-US"/>
          </a:p>
        </p:txBody>
      </p:sp>
    </p:spTree>
    <p:extLst>
      <p:ext uri="{BB962C8B-B14F-4D97-AF65-F5344CB8AC3E}">
        <p14:creationId xmlns:p14="http://schemas.microsoft.com/office/powerpoint/2010/main" val="901526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21D37CBD-35A6-902C-573D-3D88FB72ECB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lnSpc>
                <a:spcPct val="90000"/>
              </a:lnSpc>
            </a:pPr>
            <a:r>
              <a:rPr lang="en-US" sz="3100" kern="1200">
                <a:solidFill>
                  <a:srgbClr val="FFFFFF"/>
                </a:solidFill>
                <a:latin typeface="+mj-lt"/>
                <a:ea typeface="+mj-ea"/>
                <a:cs typeface="+mj-cs"/>
              </a:rPr>
              <a:t>workflow</a:t>
            </a:r>
          </a:p>
        </p:txBody>
      </p:sp>
      <p:pic>
        <p:nvPicPr>
          <p:cNvPr id="6" name="Content Placeholder 5" descr="A diagram of a company&#10;&#10;AI-generated content may be incorrect.">
            <a:extLst>
              <a:ext uri="{FF2B5EF4-FFF2-40B4-BE49-F238E27FC236}">
                <a16:creationId xmlns:a16="http://schemas.microsoft.com/office/drawing/2014/main" id="{1F7BBADC-F3A8-7ABE-ED8B-47AF4505C334}"/>
              </a:ext>
            </a:extLst>
          </p:cNvPr>
          <p:cNvPicPr>
            <a:picLocks noGrp="1" noChangeAspect="1"/>
          </p:cNvPicPr>
          <p:nvPr>
            <p:ph idx="4294967295"/>
          </p:nvPr>
        </p:nvPicPr>
        <p:blipFill>
          <a:blip r:embed="rId2"/>
          <a:stretch>
            <a:fillRect/>
          </a:stretch>
        </p:blipFill>
        <p:spPr>
          <a:xfrm>
            <a:off x="4374750" y="1035381"/>
            <a:ext cx="7168889" cy="4784909"/>
          </a:xfrm>
          <a:prstGeom prst="rect">
            <a:avLst/>
          </a:prstGeom>
          <a:solidFill>
            <a:srgbClr val="FFFFFF">
              <a:shade val="85000"/>
            </a:srgbClr>
          </a:solidFill>
          <a:scene3d>
            <a:camera prst="orthographicFront"/>
            <a:lightRig rig="twoPt" dir="t">
              <a:rot lat="0" lon="0" rev="7800000"/>
            </a:lightRig>
          </a:scene3d>
          <a:sp3d contourW="6350">
            <a:bevelT w="50800" h="16510"/>
            <a:contourClr>
              <a:srgbClr val="C0C0C0"/>
            </a:contourClr>
          </a:sp3d>
        </p:spPr>
      </p:pic>
      <p:sp>
        <p:nvSpPr>
          <p:cNvPr id="12" name="Footer Placeholder 11">
            <a:extLst>
              <a:ext uri="{FF2B5EF4-FFF2-40B4-BE49-F238E27FC236}">
                <a16:creationId xmlns:a16="http://schemas.microsoft.com/office/drawing/2014/main" id="{E9C9137C-4C2A-3985-8399-B6159A8C5A3E}"/>
              </a:ext>
            </a:extLst>
          </p:cNvPr>
          <p:cNvSpPr>
            <a:spLocks noGrp="1"/>
          </p:cNvSpPr>
          <p:nvPr>
            <p:ph type="ftr" sz="quarter" idx="11"/>
          </p:nvPr>
        </p:nvSpPr>
        <p:spPr>
          <a:xfrm>
            <a:off x="1028700" y="6356350"/>
            <a:ext cx="6210300" cy="365125"/>
          </a:xfrm>
        </p:spPr>
        <p:txBody>
          <a:bodyPr vert="horz" lIns="91440" tIns="45720" rIns="91440" bIns="45720" rtlCol="0" anchor="ctr">
            <a:normAutofit/>
          </a:bodyPr>
          <a:lstStyle/>
          <a:p>
            <a:pPr>
              <a:spcAft>
                <a:spcPts val="600"/>
              </a:spcAft>
            </a:pPr>
            <a:r>
              <a:rPr lang="en-US" kern="1200">
                <a:solidFill>
                  <a:schemeClr val="tx1">
                    <a:alpha val="80000"/>
                  </a:schemeClr>
                </a:solidFill>
                <a:latin typeface="+mn-lt"/>
                <a:ea typeface="+mn-ea"/>
                <a:cs typeface="+mn-cs"/>
              </a:rPr>
              <a:t>Global Sales Analysis</a:t>
            </a:r>
          </a:p>
        </p:txBody>
      </p:sp>
      <p:sp>
        <p:nvSpPr>
          <p:cNvPr id="13" name="Slide Number Placeholder 12">
            <a:extLst>
              <a:ext uri="{FF2B5EF4-FFF2-40B4-BE49-F238E27FC236}">
                <a16:creationId xmlns:a16="http://schemas.microsoft.com/office/drawing/2014/main" id="{89804E48-D44D-C8A3-0944-D89136753D97}"/>
              </a:ext>
            </a:extLst>
          </p:cNvPr>
          <p:cNvSpPr>
            <a:spLocks noGrp="1"/>
          </p:cNvSpPr>
          <p:nvPr>
            <p:ph type="sldNum" sz="quarter" idx="12"/>
          </p:nvPr>
        </p:nvSpPr>
        <p:spPr>
          <a:xfrm>
            <a:off x="11034184" y="6356350"/>
            <a:ext cx="514349" cy="365125"/>
          </a:xfrm>
        </p:spPr>
        <p:txBody>
          <a:bodyPr vert="horz" lIns="91440" tIns="45720" rIns="91440" bIns="45720" rtlCol="0" anchor="ctr">
            <a:normAutofit/>
          </a:bodyPr>
          <a:lstStyle/>
          <a:p>
            <a:pPr>
              <a:spcAft>
                <a:spcPts val="600"/>
              </a:spcAft>
            </a:pPr>
            <a:fld id="{5BFCF61C-3B18-4C03-8326-CC3B32D710C9}" type="slidenum">
              <a:rPr lang="en-US">
                <a:solidFill>
                  <a:schemeClr val="tx1">
                    <a:alpha val="80000"/>
                  </a:schemeClr>
                </a:solidFill>
              </a:rPr>
              <a:pPr>
                <a:spcAft>
                  <a:spcPts val="600"/>
                </a:spcAft>
              </a:pPr>
              <a:t>4</a:t>
            </a:fld>
            <a:endParaRPr lang="en-US">
              <a:solidFill>
                <a:schemeClr val="tx1">
                  <a:alpha val="80000"/>
                </a:schemeClr>
              </a:solidFill>
            </a:endParaRPr>
          </a:p>
        </p:txBody>
      </p:sp>
    </p:spTree>
    <p:extLst>
      <p:ext uri="{BB962C8B-B14F-4D97-AF65-F5344CB8AC3E}">
        <p14:creationId xmlns:p14="http://schemas.microsoft.com/office/powerpoint/2010/main" val="1125054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19D6C7A-A7F7-E063-9A09-611D1FB1DBE6}"/>
              </a:ext>
            </a:extLst>
          </p:cNvPr>
          <p:cNvSpPr>
            <a:spLocks noGrp="1"/>
          </p:cNvSpPr>
          <p:nvPr>
            <p:ph type="ftr" sz="quarter" idx="11"/>
          </p:nvPr>
        </p:nvSpPr>
        <p:spPr/>
        <p:txBody>
          <a:bodyPr/>
          <a:lstStyle/>
          <a:p>
            <a:r>
              <a:rPr lang="en-US">
                <a:cs typeface="Arial"/>
              </a:rPr>
              <a:t>Global Sales Analysis</a:t>
            </a:r>
          </a:p>
        </p:txBody>
      </p:sp>
      <p:sp>
        <p:nvSpPr>
          <p:cNvPr id="13" name="Slide Number Placeholder 12">
            <a:extLst>
              <a:ext uri="{FF2B5EF4-FFF2-40B4-BE49-F238E27FC236}">
                <a16:creationId xmlns:a16="http://schemas.microsoft.com/office/drawing/2014/main" id="{941D71DF-7225-6C66-9D2B-FAACEFF20849}"/>
              </a:ext>
            </a:extLst>
          </p:cNvPr>
          <p:cNvSpPr>
            <a:spLocks noGrp="1"/>
          </p:cNvSpPr>
          <p:nvPr>
            <p:ph type="sldNum" sz="quarter" idx="12"/>
          </p:nvPr>
        </p:nvSpPr>
        <p:spPr/>
        <p:txBody>
          <a:bodyPr/>
          <a:lstStyle/>
          <a:p>
            <a:fld id="{5BFCF61C-3B18-4C03-8326-CC3B32D710C9}" type="slidenum">
              <a:rPr lang="en-US" smtClean="0"/>
              <a:pPr/>
              <a:t>5</a:t>
            </a:fld>
            <a:endParaRPr lang="en-US"/>
          </a:p>
        </p:txBody>
      </p:sp>
      <p:sp>
        <p:nvSpPr>
          <p:cNvPr id="2" name="Title 1">
            <a:extLst>
              <a:ext uri="{FF2B5EF4-FFF2-40B4-BE49-F238E27FC236}">
                <a16:creationId xmlns:a16="http://schemas.microsoft.com/office/drawing/2014/main" id="{A98BDE3D-CB39-03D2-545F-5283024761BD}"/>
              </a:ext>
            </a:extLst>
          </p:cNvPr>
          <p:cNvSpPr>
            <a:spLocks noGrp="1"/>
          </p:cNvSpPr>
          <p:nvPr>
            <p:ph type="title"/>
          </p:nvPr>
        </p:nvSpPr>
        <p:spPr/>
        <p:txBody>
          <a:bodyPr/>
          <a:lstStyle/>
          <a:p>
            <a:r>
              <a:rPr lang="en-US" b="1"/>
              <a:t>Process of development</a:t>
            </a:r>
          </a:p>
        </p:txBody>
      </p:sp>
      <p:sp>
        <p:nvSpPr>
          <p:cNvPr id="3" name="Text Placeholder 2">
            <a:extLst>
              <a:ext uri="{FF2B5EF4-FFF2-40B4-BE49-F238E27FC236}">
                <a16:creationId xmlns:a16="http://schemas.microsoft.com/office/drawing/2014/main" id="{F02F894F-23A1-85D4-2713-57D743F8086A}"/>
              </a:ext>
            </a:extLst>
          </p:cNvPr>
          <p:cNvSpPr>
            <a:spLocks noGrp="1"/>
          </p:cNvSpPr>
          <p:nvPr>
            <p:ph type="body" sz="quarter" idx="13"/>
          </p:nvPr>
        </p:nvSpPr>
        <p:spPr>
          <a:xfrm>
            <a:off x="606891" y="2633133"/>
            <a:ext cx="4828032" cy="490538"/>
          </a:xfrm>
        </p:spPr>
        <p:txBody>
          <a:bodyPr vert="horz" lIns="91440" tIns="45720" rIns="91440" bIns="45720" rtlCol="0" anchor="t">
            <a:noAutofit/>
          </a:bodyPr>
          <a:lstStyle/>
          <a:p>
            <a:r>
              <a:rPr lang="en-US">
                <a:cs typeface="Arial"/>
              </a:rPr>
              <a:t>DATA COLLECTION</a:t>
            </a:r>
          </a:p>
        </p:txBody>
      </p:sp>
      <p:sp>
        <p:nvSpPr>
          <p:cNvPr id="4" name="Text Placeholder 3">
            <a:extLst>
              <a:ext uri="{FF2B5EF4-FFF2-40B4-BE49-F238E27FC236}">
                <a16:creationId xmlns:a16="http://schemas.microsoft.com/office/drawing/2014/main" id="{C0EF4D35-9BD6-00FC-A23D-DCE50F2F200E}"/>
              </a:ext>
            </a:extLst>
          </p:cNvPr>
          <p:cNvSpPr>
            <a:spLocks noGrp="1"/>
          </p:cNvSpPr>
          <p:nvPr>
            <p:ph type="body" sz="quarter" idx="14"/>
          </p:nvPr>
        </p:nvSpPr>
        <p:spPr>
          <a:xfrm>
            <a:off x="6137430" y="2633133"/>
            <a:ext cx="4828032" cy="490538"/>
          </a:xfrm>
        </p:spPr>
        <p:txBody>
          <a:bodyPr vert="horz" lIns="91440" tIns="45720" rIns="91440" bIns="45720" rtlCol="0" anchor="t">
            <a:noAutofit/>
          </a:bodyPr>
          <a:lstStyle/>
          <a:p>
            <a:r>
              <a:rPr lang="en-US">
                <a:cs typeface="Arial"/>
              </a:rPr>
              <a:t>DATA INGESTION</a:t>
            </a:r>
          </a:p>
        </p:txBody>
      </p:sp>
      <p:sp>
        <p:nvSpPr>
          <p:cNvPr id="5" name="Text Placeholder 4">
            <a:extLst>
              <a:ext uri="{FF2B5EF4-FFF2-40B4-BE49-F238E27FC236}">
                <a16:creationId xmlns:a16="http://schemas.microsoft.com/office/drawing/2014/main" id="{51683C73-2637-AC0E-5A6B-47B6C6CB9E2A}"/>
              </a:ext>
            </a:extLst>
          </p:cNvPr>
          <p:cNvSpPr>
            <a:spLocks noGrp="1"/>
          </p:cNvSpPr>
          <p:nvPr>
            <p:ph type="body" sz="quarter" idx="15"/>
          </p:nvPr>
        </p:nvSpPr>
        <p:spPr>
          <a:xfrm>
            <a:off x="295204" y="3119346"/>
            <a:ext cx="5446324" cy="3150305"/>
          </a:xfrm>
        </p:spPr>
        <p:txBody>
          <a:bodyPr vert="horz" lIns="91440" tIns="45720" rIns="91440" bIns="45720" rtlCol="0" anchor="t">
            <a:noAutofit/>
          </a:bodyPr>
          <a:lstStyle/>
          <a:p>
            <a:pPr marL="283210" indent="-283210"/>
            <a:r>
              <a:rPr lang="en-US">
                <a:ea typeface="+mn-lt"/>
                <a:cs typeface="+mn-lt"/>
              </a:rPr>
              <a:t>Collected raw sales data and created 200 records for each 8 countries in various formats such are,</a:t>
            </a:r>
          </a:p>
          <a:p>
            <a:pPr marL="283210" indent="-283210"/>
            <a:r>
              <a:rPr lang="en-US">
                <a:ea typeface="+mn-lt"/>
                <a:cs typeface="+mn-lt"/>
              </a:rPr>
              <a:t> India (</a:t>
            </a:r>
            <a:r>
              <a:rPr lang="en-US" b="1">
                <a:ea typeface="+mn-lt"/>
                <a:cs typeface="+mn-lt"/>
              </a:rPr>
              <a:t>SQL Server</a:t>
            </a:r>
            <a:r>
              <a:rPr lang="en-US">
                <a:ea typeface="+mn-lt"/>
                <a:cs typeface="+mn-lt"/>
              </a:rPr>
              <a:t>)</a:t>
            </a:r>
          </a:p>
          <a:p>
            <a:pPr marL="283210" indent="-283210"/>
            <a:r>
              <a:rPr lang="en-US">
                <a:ea typeface="+mn-lt"/>
                <a:cs typeface="+mn-lt"/>
              </a:rPr>
              <a:t>Japan (</a:t>
            </a:r>
            <a:r>
              <a:rPr lang="en-US" b="1">
                <a:ea typeface="+mn-lt"/>
                <a:cs typeface="+mn-lt"/>
              </a:rPr>
              <a:t>CSV</a:t>
            </a:r>
            <a:r>
              <a:rPr lang="en-US">
                <a:ea typeface="+mn-lt"/>
                <a:cs typeface="+mn-lt"/>
              </a:rPr>
              <a:t>)</a:t>
            </a:r>
          </a:p>
          <a:p>
            <a:pPr marL="283210" indent="-283210"/>
            <a:r>
              <a:rPr lang="en-US">
                <a:ea typeface="+mn-lt"/>
                <a:cs typeface="+mn-lt"/>
              </a:rPr>
              <a:t>Sri Lanka (</a:t>
            </a:r>
            <a:r>
              <a:rPr lang="en-US" b="1">
                <a:ea typeface="+mn-lt"/>
                <a:cs typeface="+mn-lt"/>
              </a:rPr>
              <a:t>JSON</a:t>
            </a:r>
            <a:r>
              <a:rPr lang="en-US">
                <a:ea typeface="+mn-lt"/>
                <a:cs typeface="+mn-lt"/>
              </a:rPr>
              <a:t>)</a:t>
            </a:r>
          </a:p>
          <a:p>
            <a:pPr marL="283210" indent="-283210"/>
            <a:r>
              <a:rPr lang="en-US">
                <a:ea typeface="+mn-lt"/>
                <a:cs typeface="+mn-lt"/>
              </a:rPr>
              <a:t>Hong Kong (</a:t>
            </a:r>
            <a:r>
              <a:rPr lang="en-US" b="1">
                <a:ea typeface="+mn-lt"/>
                <a:cs typeface="+mn-lt"/>
              </a:rPr>
              <a:t>Excel</a:t>
            </a:r>
            <a:r>
              <a:rPr lang="en-US">
                <a:ea typeface="+mn-lt"/>
                <a:cs typeface="+mn-lt"/>
              </a:rPr>
              <a:t>)</a:t>
            </a:r>
          </a:p>
          <a:p>
            <a:pPr marL="283210" indent="-283210"/>
            <a:r>
              <a:rPr lang="en-US">
                <a:ea typeface="+mn-lt"/>
                <a:cs typeface="+mn-lt"/>
              </a:rPr>
              <a:t>Norway (</a:t>
            </a:r>
            <a:r>
              <a:rPr lang="en-US" b="1">
                <a:ea typeface="+mn-lt"/>
                <a:cs typeface="+mn-lt"/>
              </a:rPr>
              <a:t>PostgreSQL</a:t>
            </a:r>
            <a:r>
              <a:rPr lang="en-US">
                <a:ea typeface="+mn-lt"/>
                <a:cs typeface="+mn-lt"/>
              </a:rPr>
              <a:t>) and </a:t>
            </a:r>
          </a:p>
          <a:p>
            <a:pPr marL="283210" indent="-283210"/>
            <a:r>
              <a:rPr lang="en-US">
                <a:ea typeface="+mn-lt"/>
                <a:cs typeface="+mn-lt"/>
              </a:rPr>
              <a:t>Germany, Qatar, Oman (</a:t>
            </a:r>
            <a:r>
              <a:rPr lang="en-US" b="1">
                <a:ea typeface="+mn-lt"/>
                <a:cs typeface="+mn-lt"/>
              </a:rPr>
              <a:t>MySQL</a:t>
            </a:r>
            <a:r>
              <a:rPr lang="en-US">
                <a:ea typeface="+mn-lt"/>
                <a:cs typeface="+mn-lt"/>
              </a:rPr>
              <a:t>).</a:t>
            </a:r>
            <a:endParaRPr lang="en-US">
              <a:cs typeface="Arial"/>
            </a:endParaRPr>
          </a:p>
          <a:p>
            <a:pPr marL="283210" indent="-283210"/>
            <a:endParaRPr lang="en-US">
              <a:cs typeface="Arial"/>
            </a:endParaRPr>
          </a:p>
          <a:p>
            <a:pPr marL="283210" indent="-283210"/>
            <a:endParaRPr lang="en-US">
              <a:cs typeface="Arial"/>
            </a:endParaRPr>
          </a:p>
          <a:p>
            <a:pPr marL="283210" indent="-283210"/>
            <a:endParaRPr lang="en-US">
              <a:cs typeface="Arial"/>
            </a:endParaRPr>
          </a:p>
        </p:txBody>
      </p:sp>
      <p:sp>
        <p:nvSpPr>
          <p:cNvPr id="6" name="Text Placeholder 5">
            <a:extLst>
              <a:ext uri="{FF2B5EF4-FFF2-40B4-BE49-F238E27FC236}">
                <a16:creationId xmlns:a16="http://schemas.microsoft.com/office/drawing/2014/main" id="{846865D3-E9E5-FDDD-B091-FE6F9039C6EA}"/>
              </a:ext>
            </a:extLst>
          </p:cNvPr>
          <p:cNvSpPr>
            <a:spLocks noGrp="1"/>
          </p:cNvSpPr>
          <p:nvPr>
            <p:ph type="body" sz="quarter" idx="16"/>
          </p:nvPr>
        </p:nvSpPr>
        <p:spPr>
          <a:xfrm>
            <a:off x="5858934" y="3119345"/>
            <a:ext cx="6151879" cy="3136194"/>
          </a:xfrm>
        </p:spPr>
        <p:txBody>
          <a:bodyPr vert="horz" lIns="91440" tIns="45720" rIns="91440" bIns="45720" rtlCol="0" anchor="t">
            <a:noAutofit/>
          </a:bodyPr>
          <a:lstStyle/>
          <a:p>
            <a:pPr marL="283210" indent="-283210"/>
            <a:r>
              <a:rPr lang="en-US">
                <a:cs typeface="Arial"/>
              </a:rPr>
              <a:t>Ingest and centralize raw sales data from multiple countries into </a:t>
            </a:r>
            <a:r>
              <a:rPr lang="en-US" b="1">
                <a:cs typeface="Arial"/>
              </a:rPr>
              <a:t>Google Cloud Storage</a:t>
            </a:r>
            <a:r>
              <a:rPr lang="en-US">
                <a:cs typeface="Arial"/>
              </a:rPr>
              <a:t> and connects to databases using</a:t>
            </a:r>
            <a:r>
              <a:rPr lang="en-US" b="1">
                <a:cs typeface="Arial"/>
              </a:rPr>
              <a:t> Cloud SQL </a:t>
            </a:r>
            <a:r>
              <a:rPr lang="en-US">
                <a:cs typeface="Arial"/>
              </a:rPr>
              <a:t> for ETL processing.</a:t>
            </a:r>
          </a:p>
          <a:p>
            <a:pPr marL="283210" indent="-283210"/>
            <a:r>
              <a:rPr lang="en-US">
                <a:cs typeface="Arial"/>
              </a:rPr>
              <a:t>.</a:t>
            </a:r>
            <a:r>
              <a:rPr lang="en-US">
                <a:ea typeface="+mn-lt"/>
                <a:cs typeface="+mn-lt"/>
              </a:rPr>
              <a:t>Connecting databases using Cloud SQL connectors and federation like SQL server, </a:t>
            </a:r>
            <a:r>
              <a:rPr lang="en-US" err="1">
                <a:ea typeface="+mn-lt"/>
                <a:cs typeface="+mn-lt"/>
              </a:rPr>
              <a:t>AlloyDB</a:t>
            </a:r>
            <a:r>
              <a:rPr lang="en-US">
                <a:ea typeface="+mn-lt"/>
                <a:cs typeface="+mn-lt"/>
              </a:rPr>
              <a:t>, MySQL .</a:t>
            </a:r>
            <a:r>
              <a:rPr lang="en-US">
                <a:cs typeface="Arial"/>
              </a:rPr>
              <a:t>We have to create the clusters for different countries and connect the databases then import the data from the bucket.</a:t>
            </a:r>
          </a:p>
          <a:p>
            <a:pPr marL="283210" indent="-283210"/>
            <a:r>
              <a:rPr lang="en-US">
                <a:ea typeface="+mn-lt"/>
                <a:cs typeface="+mn-lt"/>
              </a:rPr>
              <a:t>Automated ingestion using </a:t>
            </a:r>
            <a:r>
              <a:rPr lang="en-US" b="1">
                <a:ea typeface="+mn-lt"/>
                <a:cs typeface="+mn-lt"/>
              </a:rPr>
              <a:t>Cloud Composer (Airflow)</a:t>
            </a:r>
            <a:r>
              <a:rPr lang="en-US">
                <a:ea typeface="+mn-lt"/>
                <a:cs typeface="+mn-lt"/>
              </a:rPr>
              <a:t> DAGs.</a:t>
            </a:r>
            <a:endParaRPr lang="en-US">
              <a:cs typeface="Arial"/>
            </a:endParaRPr>
          </a:p>
          <a:p>
            <a:pPr marL="283210" indent="-283210"/>
            <a:endParaRPr lang="en-US">
              <a:cs typeface="Arial"/>
            </a:endParaRPr>
          </a:p>
        </p:txBody>
      </p:sp>
    </p:spTree>
    <p:extLst>
      <p:ext uri="{BB962C8B-B14F-4D97-AF65-F5344CB8AC3E}">
        <p14:creationId xmlns:p14="http://schemas.microsoft.com/office/powerpoint/2010/main" val="3979194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0D74F0DD-9277-50B0-68E1-220BA8344883}"/>
              </a:ext>
            </a:extLst>
          </p:cNvPr>
          <p:cNvSpPr>
            <a:spLocks noGrp="1"/>
          </p:cNvSpPr>
          <p:nvPr>
            <p:ph type="ftr" sz="quarter" idx="11"/>
          </p:nvPr>
        </p:nvSpPr>
        <p:spPr/>
        <p:txBody>
          <a:bodyPr/>
          <a:lstStyle/>
          <a:p>
            <a:r>
              <a:rPr lang="en-US">
                <a:cs typeface="Arial"/>
              </a:rPr>
              <a:t>Global Sales Analysis</a:t>
            </a:r>
          </a:p>
        </p:txBody>
      </p:sp>
      <p:sp>
        <p:nvSpPr>
          <p:cNvPr id="13" name="Slide Number Placeholder 12">
            <a:extLst>
              <a:ext uri="{FF2B5EF4-FFF2-40B4-BE49-F238E27FC236}">
                <a16:creationId xmlns:a16="http://schemas.microsoft.com/office/drawing/2014/main" id="{CB0BAE21-4E4A-BE6E-EE84-D535446B94CD}"/>
              </a:ext>
            </a:extLst>
          </p:cNvPr>
          <p:cNvSpPr>
            <a:spLocks noGrp="1"/>
          </p:cNvSpPr>
          <p:nvPr>
            <p:ph type="sldNum" sz="quarter" idx="12"/>
          </p:nvPr>
        </p:nvSpPr>
        <p:spPr/>
        <p:txBody>
          <a:bodyPr/>
          <a:lstStyle/>
          <a:p>
            <a:fld id="{5BFCF61C-3B18-4C03-8326-CC3B32D710C9}" type="slidenum">
              <a:rPr lang="en-US" smtClean="0"/>
              <a:pPr/>
              <a:t>6</a:t>
            </a:fld>
            <a:endParaRPr lang="en-US"/>
          </a:p>
        </p:txBody>
      </p:sp>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p:txBody>
          <a:bodyPr/>
          <a:lstStyle/>
          <a:p>
            <a:r>
              <a:rPr lang="en-US" b="1">
                <a:cs typeface="Arial"/>
              </a:rPr>
              <a:t>Process of development</a:t>
            </a:r>
            <a:br>
              <a:rPr lang="en-US" b="1"/>
            </a:br>
            <a:endParaRPr lang="en-US">
              <a:cs typeface="Arial"/>
            </a:endParaRPr>
          </a:p>
        </p:txBody>
      </p:sp>
      <p:sp>
        <p:nvSpPr>
          <p:cNvPr id="3" name="Text Placeholder 2">
            <a:extLst>
              <a:ext uri="{FF2B5EF4-FFF2-40B4-BE49-F238E27FC236}">
                <a16:creationId xmlns:a16="http://schemas.microsoft.com/office/drawing/2014/main" id="{FACB5A03-99D2-C953-F227-3E1620258992}"/>
              </a:ext>
            </a:extLst>
          </p:cNvPr>
          <p:cNvSpPr>
            <a:spLocks noGrp="1"/>
          </p:cNvSpPr>
          <p:nvPr>
            <p:ph type="body" sz="quarter" idx="13"/>
          </p:nvPr>
        </p:nvSpPr>
        <p:spPr>
          <a:xfrm>
            <a:off x="411467" y="2647245"/>
            <a:ext cx="5678158" cy="575204"/>
          </a:xfrm>
        </p:spPr>
        <p:txBody>
          <a:bodyPr vert="horz" lIns="91440" tIns="45720" rIns="91440" bIns="45720" rtlCol="0" anchor="t">
            <a:noAutofit/>
          </a:bodyPr>
          <a:lstStyle/>
          <a:p>
            <a:r>
              <a:rPr lang="en-US"/>
              <a:t>DATA CLEANING </a:t>
            </a:r>
            <a:endParaRPr lang="en-PK"/>
          </a:p>
        </p:txBody>
      </p:sp>
      <p:sp>
        <p:nvSpPr>
          <p:cNvPr id="5" name="Text Placeholder 4">
            <a:extLst>
              <a:ext uri="{FF2B5EF4-FFF2-40B4-BE49-F238E27FC236}">
                <a16:creationId xmlns:a16="http://schemas.microsoft.com/office/drawing/2014/main" id="{3F16C050-0EBC-234C-AB93-E7868D85A2B0}"/>
              </a:ext>
            </a:extLst>
          </p:cNvPr>
          <p:cNvSpPr>
            <a:spLocks noGrp="1"/>
          </p:cNvSpPr>
          <p:nvPr>
            <p:ph type="body" sz="quarter" idx="15"/>
          </p:nvPr>
        </p:nvSpPr>
        <p:spPr>
          <a:xfrm>
            <a:off x="153828" y="3089528"/>
            <a:ext cx="11855429" cy="3461281"/>
          </a:xfrm>
        </p:spPr>
        <p:txBody>
          <a:bodyPr vert="horz" lIns="91440" tIns="45720" rIns="91440" bIns="45720" rtlCol="0" anchor="t">
            <a:noAutofit/>
          </a:bodyPr>
          <a:lstStyle/>
          <a:p>
            <a:pPr marL="283210" indent="-283210" algn="just"/>
            <a:r>
              <a:rPr lang="en-US">
                <a:solidFill>
                  <a:srgbClr val="3B4546"/>
                </a:solidFill>
                <a:ea typeface="+mn-lt"/>
                <a:cs typeface="+mn-lt"/>
              </a:rPr>
              <a:t>Inspect ingested data for nulls, missing values, and inconsistencies.</a:t>
            </a:r>
          </a:p>
          <a:p>
            <a:pPr marL="283210" indent="-283210" algn="just"/>
            <a:r>
              <a:rPr lang="en-US">
                <a:solidFill>
                  <a:srgbClr val="3B4546"/>
                </a:solidFill>
                <a:ea typeface="+mn-lt"/>
                <a:cs typeface="+mn-lt"/>
              </a:rPr>
              <a:t>Remove duplicates and handle encoding issues. Fix date formatting problems across datasets.</a:t>
            </a:r>
            <a:endParaRPr lang="en-US"/>
          </a:p>
          <a:p>
            <a:pPr marL="283210" indent="-283210" algn="just"/>
            <a:r>
              <a:rPr lang="en-US">
                <a:solidFill>
                  <a:srgbClr val="3B4546"/>
                </a:solidFill>
                <a:ea typeface="+mn-lt"/>
                <a:cs typeface="+mn-lt"/>
              </a:rPr>
              <a:t>Normalize column names and data types across all country datasets. Validate cleaned data by comparing with source data.</a:t>
            </a:r>
            <a:endParaRPr lang="en-US"/>
          </a:p>
          <a:p>
            <a:pPr marL="283210" indent="-283210" algn="just"/>
            <a:r>
              <a:rPr lang="en-US">
                <a:solidFill>
                  <a:srgbClr val="3B4546"/>
                </a:solidFill>
                <a:ea typeface="+mn-lt"/>
                <a:cs typeface="+mn-lt"/>
              </a:rPr>
              <a:t>Communicate regularly with the ingestion team to ensure smooth data flow. Ensure all cleaning scripts are modular and reusable.</a:t>
            </a:r>
            <a:endParaRPr lang="en-US">
              <a:cs typeface="Arial"/>
            </a:endParaRPr>
          </a:p>
          <a:p>
            <a:pPr marL="283210" indent="-283210" algn="just"/>
            <a:r>
              <a:rPr lang="en-US">
                <a:solidFill>
                  <a:srgbClr val="3B4546"/>
                </a:solidFill>
                <a:ea typeface="+mn-lt"/>
                <a:cs typeface="+mn-lt"/>
              </a:rPr>
              <a:t>Document cleaning steps and processes. Handle error logging and report data quality issues.</a:t>
            </a:r>
            <a:endParaRPr lang="en-US">
              <a:cs typeface="Arial"/>
            </a:endParaRPr>
          </a:p>
          <a:p>
            <a:pPr marL="283210" indent="-283210" algn="just"/>
            <a:r>
              <a:rPr lang="en-US">
                <a:solidFill>
                  <a:srgbClr val="3B4546"/>
                </a:solidFill>
                <a:ea typeface="+mn-lt"/>
                <a:cs typeface="+mn-lt"/>
              </a:rPr>
              <a:t>Prepare cleaned datasets for the transformation stage.</a:t>
            </a:r>
            <a:endParaRPr lang="en-US"/>
          </a:p>
          <a:p>
            <a:pPr marL="283210" indent="-283210" algn="just"/>
            <a:endParaRPr lang="en-US">
              <a:solidFill>
                <a:srgbClr val="3B4546"/>
              </a:solidFill>
              <a:ea typeface="+mn-lt"/>
              <a:cs typeface="+mn-lt"/>
            </a:endParaRPr>
          </a:p>
          <a:p>
            <a:pPr marL="283210" indent="-283210" algn="just"/>
            <a:endParaRPr lang="en-US">
              <a:cs typeface="Arial"/>
            </a:endParaRPr>
          </a:p>
        </p:txBody>
      </p:sp>
    </p:spTree>
    <p:extLst>
      <p:ext uri="{BB962C8B-B14F-4D97-AF65-F5344CB8AC3E}">
        <p14:creationId xmlns:p14="http://schemas.microsoft.com/office/powerpoint/2010/main" val="4122396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835334-CB62-F641-A709-8F0C26734FA9}"/>
              </a:ext>
            </a:extLst>
          </p:cNvPr>
          <p:cNvSpPr>
            <a:spLocks noGrp="1"/>
          </p:cNvSpPr>
          <p:nvPr>
            <p:ph type="ftr" sz="quarter" idx="11"/>
          </p:nvPr>
        </p:nvSpPr>
        <p:spPr/>
        <p:txBody>
          <a:bodyPr/>
          <a:lstStyle/>
          <a:p>
            <a:r>
              <a:rPr lang="en-US">
                <a:cs typeface="Arial"/>
              </a:rPr>
              <a:t>Global Sales Analysis</a:t>
            </a:r>
            <a:endParaRPr lang="en-US"/>
          </a:p>
        </p:txBody>
      </p:sp>
      <p:sp>
        <p:nvSpPr>
          <p:cNvPr id="3" name="Slide Number Placeholder 2">
            <a:extLst>
              <a:ext uri="{FF2B5EF4-FFF2-40B4-BE49-F238E27FC236}">
                <a16:creationId xmlns:a16="http://schemas.microsoft.com/office/drawing/2014/main" id="{03340187-C546-7DED-4DFD-A4C8BE6E6BFC}"/>
              </a:ext>
            </a:extLst>
          </p:cNvPr>
          <p:cNvSpPr>
            <a:spLocks noGrp="1"/>
          </p:cNvSpPr>
          <p:nvPr>
            <p:ph type="sldNum" sz="quarter" idx="12"/>
          </p:nvPr>
        </p:nvSpPr>
        <p:spPr/>
        <p:txBody>
          <a:bodyPr/>
          <a:lstStyle/>
          <a:p>
            <a:fld id="{5BFCF61C-3B18-4C03-8326-CC3B32D710C9}" type="slidenum">
              <a:rPr lang="en-US" noProof="0" smtClean="0"/>
              <a:pPr/>
              <a:t>7</a:t>
            </a:fld>
            <a:endParaRPr lang="en-US" noProof="0"/>
          </a:p>
        </p:txBody>
      </p:sp>
      <p:sp>
        <p:nvSpPr>
          <p:cNvPr id="4" name="Title 3">
            <a:extLst>
              <a:ext uri="{FF2B5EF4-FFF2-40B4-BE49-F238E27FC236}">
                <a16:creationId xmlns:a16="http://schemas.microsoft.com/office/drawing/2014/main" id="{0DBCFE8E-A6A1-30DD-D5F1-C540B950D589}"/>
              </a:ext>
            </a:extLst>
          </p:cNvPr>
          <p:cNvSpPr>
            <a:spLocks noGrp="1"/>
          </p:cNvSpPr>
          <p:nvPr>
            <p:ph type="title"/>
          </p:nvPr>
        </p:nvSpPr>
        <p:spPr/>
        <p:txBody>
          <a:bodyPr/>
          <a:lstStyle/>
          <a:p>
            <a:r>
              <a:rPr lang="en-US" b="1">
                <a:cs typeface="Arial"/>
              </a:rPr>
              <a:t>Process of development</a:t>
            </a:r>
            <a:endParaRPr lang="en-US"/>
          </a:p>
        </p:txBody>
      </p:sp>
      <p:sp>
        <p:nvSpPr>
          <p:cNvPr id="5" name="Text Placeholder 4">
            <a:extLst>
              <a:ext uri="{FF2B5EF4-FFF2-40B4-BE49-F238E27FC236}">
                <a16:creationId xmlns:a16="http://schemas.microsoft.com/office/drawing/2014/main" id="{0D9FE57A-D99B-6441-F823-A842F288BB7E}"/>
              </a:ext>
            </a:extLst>
          </p:cNvPr>
          <p:cNvSpPr>
            <a:spLocks noGrp="1"/>
          </p:cNvSpPr>
          <p:nvPr>
            <p:ph type="body" sz="quarter" idx="13"/>
          </p:nvPr>
        </p:nvSpPr>
        <p:spPr>
          <a:xfrm>
            <a:off x="404809" y="2583611"/>
            <a:ext cx="4828032" cy="490538"/>
          </a:xfrm>
        </p:spPr>
        <p:txBody>
          <a:bodyPr vert="horz" lIns="91440" tIns="45720" rIns="91440" bIns="45720" rtlCol="0" anchor="t">
            <a:noAutofit/>
          </a:bodyPr>
          <a:lstStyle/>
          <a:p>
            <a:r>
              <a:rPr lang="en-US">
                <a:cs typeface="Arial"/>
              </a:rPr>
              <a:t>DATA TRANSFORMATION</a:t>
            </a:r>
            <a:endParaRPr lang="en-US"/>
          </a:p>
        </p:txBody>
      </p:sp>
      <p:sp>
        <p:nvSpPr>
          <p:cNvPr id="7" name="Text Placeholder 6">
            <a:extLst>
              <a:ext uri="{FF2B5EF4-FFF2-40B4-BE49-F238E27FC236}">
                <a16:creationId xmlns:a16="http://schemas.microsoft.com/office/drawing/2014/main" id="{C2ED5909-8B80-D18F-F3F8-7FE08AE90083}"/>
              </a:ext>
            </a:extLst>
          </p:cNvPr>
          <p:cNvSpPr>
            <a:spLocks noGrp="1"/>
          </p:cNvSpPr>
          <p:nvPr>
            <p:ph type="body" sz="quarter" idx="15"/>
          </p:nvPr>
        </p:nvSpPr>
        <p:spPr>
          <a:xfrm>
            <a:off x="308251" y="2970246"/>
            <a:ext cx="11886048" cy="3364900"/>
          </a:xfrm>
        </p:spPr>
        <p:txBody>
          <a:bodyPr vert="horz" lIns="91440" tIns="45720" rIns="91440" bIns="45720" rtlCol="0" anchor="t">
            <a:noAutofit/>
          </a:bodyPr>
          <a:lstStyle/>
          <a:p>
            <a:pPr marL="283210" indent="-283210"/>
            <a:r>
              <a:rPr lang="en-US">
                <a:ea typeface="+mn-lt"/>
                <a:cs typeface="+mn-lt"/>
              </a:rPr>
              <a:t>Design transformation logic to standardize datasets from all countries. Apply currency conversion for all sales values into INR using a predefined table.</a:t>
            </a:r>
            <a:endParaRPr lang="en-US">
              <a:cs typeface="Arial"/>
            </a:endParaRPr>
          </a:p>
          <a:p>
            <a:pPr marL="283210" indent="-283210"/>
            <a:r>
              <a:rPr lang="en-US">
                <a:ea typeface="+mn-lt"/>
                <a:cs typeface="+mn-lt"/>
              </a:rPr>
              <a:t>Merge cleaned datasets into a unified structure before loading into BigQuery. Develop Airflow DAGs for data transformation workflows. Automate scheduling and execution of transformation pipelines</a:t>
            </a:r>
          </a:p>
          <a:p>
            <a:pPr marL="283210" indent="-283210"/>
            <a:r>
              <a:rPr lang="en-US">
                <a:ea typeface="+mn-lt"/>
                <a:cs typeface="+mn-lt"/>
              </a:rPr>
              <a:t>Validate transformed data accuracy and completeness.</a:t>
            </a:r>
          </a:p>
          <a:p>
            <a:pPr marL="283210" indent="-283210"/>
            <a:r>
              <a:rPr lang="en-US">
                <a:ea typeface="+mn-lt"/>
                <a:cs typeface="+mn-lt"/>
              </a:rPr>
              <a:t>Coordinate with the forecasting team to provide clean, transformed data.</a:t>
            </a:r>
          </a:p>
          <a:p>
            <a:pPr marL="283210" indent="-283210"/>
            <a:r>
              <a:rPr lang="en-US">
                <a:ea typeface="+mn-lt"/>
                <a:cs typeface="+mn-lt"/>
              </a:rPr>
              <a:t>Ensure transformation code is optimized for performance and scalability.</a:t>
            </a:r>
          </a:p>
          <a:p>
            <a:pPr marL="283210" indent="-283210"/>
            <a:r>
              <a:rPr lang="en-US">
                <a:ea typeface="+mn-lt"/>
                <a:cs typeface="+mn-lt"/>
              </a:rPr>
              <a:t>Document transformation processes and pipeline workflows. Troubleshoot and fix any transformation pipeline errors.</a:t>
            </a:r>
          </a:p>
          <a:p>
            <a:pPr marL="283210" indent="-283210"/>
            <a:endParaRPr lang="en-US">
              <a:cs typeface="Arial"/>
            </a:endParaRPr>
          </a:p>
          <a:p>
            <a:pPr marL="283210" indent="-283210"/>
            <a:endParaRPr lang="en-US">
              <a:cs typeface="Arial"/>
            </a:endParaRPr>
          </a:p>
        </p:txBody>
      </p:sp>
    </p:spTree>
    <p:extLst>
      <p:ext uri="{BB962C8B-B14F-4D97-AF65-F5344CB8AC3E}">
        <p14:creationId xmlns:p14="http://schemas.microsoft.com/office/powerpoint/2010/main" val="265177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39A4D5-EDA8-125C-03A1-58F07E630190}"/>
              </a:ext>
            </a:extLst>
          </p:cNvPr>
          <p:cNvSpPr>
            <a:spLocks noGrp="1"/>
          </p:cNvSpPr>
          <p:nvPr>
            <p:ph type="ftr" sz="quarter" idx="11"/>
          </p:nvPr>
        </p:nvSpPr>
        <p:spPr/>
        <p:txBody>
          <a:bodyPr/>
          <a:lstStyle/>
          <a:p>
            <a:r>
              <a:rPr lang="en-US">
                <a:cs typeface="Arial"/>
              </a:rPr>
              <a:t>Global Sales Analysis</a:t>
            </a:r>
            <a:endParaRPr lang="en-US"/>
          </a:p>
        </p:txBody>
      </p:sp>
      <p:sp>
        <p:nvSpPr>
          <p:cNvPr id="3" name="Slide Number Placeholder 2">
            <a:extLst>
              <a:ext uri="{FF2B5EF4-FFF2-40B4-BE49-F238E27FC236}">
                <a16:creationId xmlns:a16="http://schemas.microsoft.com/office/drawing/2014/main" id="{D37862AC-7277-AC0B-C096-B5126F101192}"/>
              </a:ext>
            </a:extLst>
          </p:cNvPr>
          <p:cNvSpPr>
            <a:spLocks noGrp="1"/>
          </p:cNvSpPr>
          <p:nvPr>
            <p:ph type="sldNum" sz="quarter" idx="12"/>
          </p:nvPr>
        </p:nvSpPr>
        <p:spPr/>
        <p:txBody>
          <a:bodyPr/>
          <a:lstStyle/>
          <a:p>
            <a:fld id="{5BFCF61C-3B18-4C03-8326-CC3B32D710C9}" type="slidenum">
              <a:rPr lang="en-US" noProof="0" smtClean="0"/>
              <a:pPr/>
              <a:t>8</a:t>
            </a:fld>
            <a:endParaRPr lang="en-US" noProof="0"/>
          </a:p>
        </p:txBody>
      </p:sp>
      <p:sp>
        <p:nvSpPr>
          <p:cNvPr id="4" name="Title 3">
            <a:extLst>
              <a:ext uri="{FF2B5EF4-FFF2-40B4-BE49-F238E27FC236}">
                <a16:creationId xmlns:a16="http://schemas.microsoft.com/office/drawing/2014/main" id="{85F6A789-5E94-3D0E-C42C-4E19CE6050F7}"/>
              </a:ext>
            </a:extLst>
          </p:cNvPr>
          <p:cNvSpPr>
            <a:spLocks noGrp="1"/>
          </p:cNvSpPr>
          <p:nvPr>
            <p:ph type="title"/>
          </p:nvPr>
        </p:nvSpPr>
        <p:spPr/>
        <p:txBody>
          <a:bodyPr/>
          <a:lstStyle/>
          <a:p>
            <a:r>
              <a:rPr lang="en-US" b="1">
                <a:cs typeface="Arial"/>
              </a:rPr>
              <a:t>Process of development</a:t>
            </a:r>
            <a:endParaRPr lang="en-US"/>
          </a:p>
        </p:txBody>
      </p:sp>
      <p:sp>
        <p:nvSpPr>
          <p:cNvPr id="5" name="Text Placeholder 4">
            <a:extLst>
              <a:ext uri="{FF2B5EF4-FFF2-40B4-BE49-F238E27FC236}">
                <a16:creationId xmlns:a16="http://schemas.microsoft.com/office/drawing/2014/main" id="{7F28DC60-7EA9-2BD4-4A5F-C610346F0234}"/>
              </a:ext>
            </a:extLst>
          </p:cNvPr>
          <p:cNvSpPr>
            <a:spLocks noGrp="1"/>
          </p:cNvSpPr>
          <p:nvPr>
            <p:ph type="body" sz="quarter" idx="13"/>
          </p:nvPr>
        </p:nvSpPr>
        <p:spPr>
          <a:xfrm>
            <a:off x="634847" y="2756140"/>
            <a:ext cx="4828032" cy="490538"/>
          </a:xfrm>
        </p:spPr>
        <p:txBody>
          <a:bodyPr vert="horz" lIns="91440" tIns="45720" rIns="91440" bIns="45720" rtlCol="0" anchor="t">
            <a:noAutofit/>
          </a:bodyPr>
          <a:lstStyle/>
          <a:p>
            <a:r>
              <a:rPr lang="en-US">
                <a:cs typeface="Arial"/>
              </a:rPr>
              <a:t>FORECASTING</a:t>
            </a:r>
            <a:endParaRPr lang="en-US"/>
          </a:p>
        </p:txBody>
      </p:sp>
      <p:sp>
        <p:nvSpPr>
          <p:cNvPr id="7" name="Text Placeholder 6">
            <a:extLst>
              <a:ext uri="{FF2B5EF4-FFF2-40B4-BE49-F238E27FC236}">
                <a16:creationId xmlns:a16="http://schemas.microsoft.com/office/drawing/2014/main" id="{734CA8C0-2E91-E7B1-DCA5-8A1F4A6CBF09}"/>
              </a:ext>
            </a:extLst>
          </p:cNvPr>
          <p:cNvSpPr>
            <a:spLocks noGrp="1"/>
          </p:cNvSpPr>
          <p:nvPr>
            <p:ph type="body" sz="quarter" idx="15"/>
          </p:nvPr>
        </p:nvSpPr>
        <p:spPr>
          <a:xfrm>
            <a:off x="538288" y="3243416"/>
            <a:ext cx="11124049" cy="2487884"/>
          </a:xfrm>
        </p:spPr>
        <p:txBody>
          <a:bodyPr vert="horz" lIns="91440" tIns="45720" rIns="91440" bIns="45720" rtlCol="0" anchor="t">
            <a:noAutofit/>
          </a:bodyPr>
          <a:lstStyle/>
          <a:p>
            <a:pPr marL="283210" indent="-283210"/>
            <a:r>
              <a:rPr lang="en-US" sz="1800">
                <a:cs typeface="Arial"/>
              </a:rPr>
              <a:t>The process of using historical data to make informed predictions about future outcomes we use </a:t>
            </a:r>
            <a:r>
              <a:rPr lang="en-US" sz="1800" err="1">
                <a:cs typeface="Arial"/>
              </a:rPr>
              <a:t>BigQuery</a:t>
            </a:r>
            <a:r>
              <a:rPr lang="en-US" sz="1800">
                <a:cs typeface="Arial"/>
              </a:rPr>
              <a:t> ML to build and train time series models directly in </a:t>
            </a:r>
            <a:r>
              <a:rPr lang="en-US" sz="1800" err="1">
                <a:cs typeface="Arial"/>
              </a:rPr>
              <a:t>BigQuery</a:t>
            </a:r>
            <a:r>
              <a:rPr lang="en-US" sz="1800">
                <a:cs typeface="Arial"/>
              </a:rPr>
              <a:t> using SQL. we're forecasting future sales volume and revenue using past transaction data. </a:t>
            </a:r>
            <a:endParaRPr lang="en-US" sz="1800">
              <a:solidFill>
                <a:srgbClr val="000000"/>
              </a:solidFill>
              <a:cs typeface="Arial"/>
            </a:endParaRPr>
          </a:p>
          <a:p>
            <a:pPr marL="283210" indent="-283210"/>
            <a:r>
              <a:rPr lang="en-US" sz="1800">
                <a:ea typeface="+mn-lt"/>
                <a:cs typeface="+mn-lt"/>
              </a:rPr>
              <a:t>We used a Linear Regression model in </a:t>
            </a:r>
            <a:r>
              <a:rPr lang="en-US" sz="1800" err="1">
                <a:ea typeface="+mn-lt"/>
                <a:cs typeface="+mn-lt"/>
              </a:rPr>
              <a:t>BigQuery</a:t>
            </a:r>
            <a:r>
              <a:rPr lang="en-US" sz="1800">
                <a:ea typeface="+mn-lt"/>
                <a:cs typeface="+mn-lt"/>
              </a:rPr>
              <a:t> ML to predict sales values based on features such as quantity, product category, product name, and country. This approach helps us understand how these variables influence sales and enables prediction of sales for new or incomplete records.</a:t>
            </a:r>
            <a:endParaRPr lang="en-US" sz="1800">
              <a:cs typeface="Arial"/>
            </a:endParaRPr>
          </a:p>
          <a:p>
            <a:pPr marL="283210" indent="-283210"/>
            <a:endParaRPr lang="en-US">
              <a:cs typeface="Arial"/>
            </a:endParaRPr>
          </a:p>
        </p:txBody>
      </p:sp>
    </p:spTree>
    <p:extLst>
      <p:ext uri="{BB962C8B-B14F-4D97-AF65-F5344CB8AC3E}">
        <p14:creationId xmlns:p14="http://schemas.microsoft.com/office/powerpoint/2010/main" val="3093689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BEC1259C-0A50-37A0-081E-E36D391D7A08}"/>
              </a:ext>
            </a:extLst>
          </p:cNvPr>
          <p:cNvSpPr>
            <a:spLocks noGrp="1"/>
          </p:cNvSpPr>
          <p:nvPr>
            <p:ph type="ftr" sz="quarter" idx="11"/>
          </p:nvPr>
        </p:nvSpPr>
        <p:spPr/>
        <p:txBody>
          <a:bodyPr/>
          <a:lstStyle/>
          <a:p>
            <a:r>
              <a:rPr lang="en-US">
                <a:cs typeface="Arial"/>
              </a:rPr>
              <a:t>Global Sales Analysis</a:t>
            </a:r>
          </a:p>
        </p:txBody>
      </p:sp>
      <p:sp>
        <p:nvSpPr>
          <p:cNvPr id="13" name="Slide Number Placeholder 12">
            <a:extLst>
              <a:ext uri="{FF2B5EF4-FFF2-40B4-BE49-F238E27FC236}">
                <a16:creationId xmlns:a16="http://schemas.microsoft.com/office/drawing/2014/main" id="{208378E4-1369-B8BE-D097-D0A68C992F75}"/>
              </a:ext>
            </a:extLst>
          </p:cNvPr>
          <p:cNvSpPr>
            <a:spLocks noGrp="1"/>
          </p:cNvSpPr>
          <p:nvPr>
            <p:ph type="sldNum" sz="quarter" idx="12"/>
          </p:nvPr>
        </p:nvSpPr>
        <p:spPr/>
        <p:txBody>
          <a:bodyPr/>
          <a:lstStyle/>
          <a:p>
            <a:fld id="{5BFCF61C-3B18-4C03-8326-CC3B32D710C9}" type="slidenum">
              <a:rPr lang="en-US" smtClean="0"/>
              <a:pPr/>
              <a:t>9</a:t>
            </a:fld>
            <a:endParaRPr lang="en-US"/>
          </a:p>
        </p:txBody>
      </p:sp>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p:txBody>
          <a:bodyPr/>
          <a:lstStyle/>
          <a:p>
            <a:r>
              <a:rPr lang="en-US" b="1">
                <a:cs typeface="Arial"/>
              </a:rPr>
              <a:t>PROCESS OF DEVELOPMENT</a:t>
            </a:r>
          </a:p>
        </p:txBody>
      </p:sp>
      <p:sp>
        <p:nvSpPr>
          <p:cNvPr id="3" name="Text Placeholder 2">
            <a:extLst>
              <a:ext uri="{FF2B5EF4-FFF2-40B4-BE49-F238E27FC236}">
                <a16:creationId xmlns:a16="http://schemas.microsoft.com/office/drawing/2014/main" id="{B9136911-B582-CB5C-914D-58A0AE6AB75A}"/>
              </a:ext>
            </a:extLst>
          </p:cNvPr>
          <p:cNvSpPr>
            <a:spLocks noGrp="1"/>
          </p:cNvSpPr>
          <p:nvPr>
            <p:ph type="body" sz="quarter" idx="13"/>
          </p:nvPr>
        </p:nvSpPr>
        <p:spPr/>
        <p:txBody>
          <a:bodyPr vert="horz" lIns="91440" tIns="45720" rIns="91440" bIns="45720" rtlCol="0" anchor="t">
            <a:noAutofit/>
          </a:bodyPr>
          <a:lstStyle/>
          <a:p>
            <a:r>
              <a:rPr lang="en-US">
                <a:cs typeface="Arial"/>
              </a:rPr>
              <a:t>DATA VISUALISATION</a:t>
            </a:r>
          </a:p>
        </p:txBody>
      </p:sp>
      <p:sp>
        <p:nvSpPr>
          <p:cNvPr id="5" name="Text Placeholder 4">
            <a:extLst>
              <a:ext uri="{FF2B5EF4-FFF2-40B4-BE49-F238E27FC236}">
                <a16:creationId xmlns:a16="http://schemas.microsoft.com/office/drawing/2014/main" id="{E194D589-C330-607E-B446-0DA52AACC4E4}"/>
              </a:ext>
            </a:extLst>
          </p:cNvPr>
          <p:cNvSpPr>
            <a:spLocks noGrp="1"/>
          </p:cNvSpPr>
          <p:nvPr>
            <p:ph type="body" sz="quarter" idx="15"/>
          </p:nvPr>
        </p:nvSpPr>
        <p:spPr>
          <a:xfrm>
            <a:off x="408892" y="3459076"/>
            <a:ext cx="10505823" cy="2444751"/>
          </a:xfrm>
        </p:spPr>
        <p:txBody>
          <a:bodyPr vert="horz" lIns="91440" tIns="45720" rIns="91440" bIns="45720" rtlCol="0" anchor="t">
            <a:noAutofit/>
          </a:bodyPr>
          <a:lstStyle/>
          <a:p>
            <a:pPr marL="283210" indent="-283210"/>
            <a:r>
              <a:rPr lang="en-US" sz="1800">
                <a:ea typeface="+mn-lt"/>
                <a:cs typeface="+mn-lt"/>
              </a:rPr>
              <a:t>Looker Studio is used to build interactive, real-time dashboards and visualizations for various stakeholders. It connects directly to </a:t>
            </a:r>
            <a:r>
              <a:rPr lang="en-US" sz="1800" err="1">
                <a:ea typeface="+mn-lt"/>
                <a:cs typeface="+mn-lt"/>
              </a:rPr>
              <a:t>BigQuery</a:t>
            </a:r>
            <a:r>
              <a:rPr lang="en-US" sz="1800">
                <a:ea typeface="+mn-lt"/>
                <a:cs typeface="+mn-lt"/>
              </a:rPr>
              <a:t>, where your cleaned and transformed sales data is stored.</a:t>
            </a:r>
            <a:endParaRPr lang="en-US" sz="1800">
              <a:cs typeface="Arial"/>
            </a:endParaRPr>
          </a:p>
          <a:p>
            <a:pPr marL="283210" indent="-283210"/>
            <a:r>
              <a:rPr lang="en-US" sz="1800">
                <a:cs typeface="Arial"/>
              </a:rPr>
              <a:t>We have to create dashboards </a:t>
            </a:r>
            <a:r>
              <a:rPr lang="en-US" sz="1800">
                <a:ea typeface="+mn-lt"/>
                <a:cs typeface="+mn-lt"/>
              </a:rPr>
              <a:t>for product-wise, country-wise sales, tax calculations, and forecasting data.</a:t>
            </a:r>
          </a:p>
          <a:p>
            <a:pPr marL="283210" indent="-283210"/>
            <a:endParaRPr lang="en-US">
              <a:cs typeface="Arial"/>
            </a:endParaRPr>
          </a:p>
        </p:txBody>
      </p:sp>
    </p:spTree>
    <p:extLst>
      <p:ext uri="{BB962C8B-B14F-4D97-AF65-F5344CB8AC3E}">
        <p14:creationId xmlns:p14="http://schemas.microsoft.com/office/powerpoint/2010/main" val="616355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CEED6286-6851-6DDB-6D9B-9B02A607B361}"/>
              </a:ext>
            </a:extLst>
          </p:cNvPr>
          <p:cNvSpPr>
            <a:spLocks noGrp="1"/>
          </p:cNvSpPr>
          <p:nvPr>
            <p:ph type="ftr" sz="quarter" idx="11"/>
          </p:nvPr>
        </p:nvSpPr>
        <p:spPr/>
        <p:txBody>
          <a:bodyPr/>
          <a:lstStyle/>
          <a:p>
            <a:r>
              <a:rPr lang="en-US">
                <a:cs typeface="Arial"/>
              </a:rPr>
              <a:t>Global Sales Analysis</a:t>
            </a:r>
          </a:p>
        </p:txBody>
      </p:sp>
      <p:sp>
        <p:nvSpPr>
          <p:cNvPr id="13" name="Slide Number Placeholder 12">
            <a:extLst>
              <a:ext uri="{FF2B5EF4-FFF2-40B4-BE49-F238E27FC236}">
                <a16:creationId xmlns:a16="http://schemas.microsoft.com/office/drawing/2014/main" id="{A783BE29-9226-E728-BAD0-B02DEADFB9C6}"/>
              </a:ext>
            </a:extLst>
          </p:cNvPr>
          <p:cNvSpPr>
            <a:spLocks noGrp="1"/>
          </p:cNvSpPr>
          <p:nvPr>
            <p:ph type="sldNum" sz="quarter" idx="12"/>
          </p:nvPr>
        </p:nvSpPr>
        <p:spPr/>
        <p:txBody>
          <a:bodyPr/>
          <a:lstStyle/>
          <a:p>
            <a:fld id="{5BFCF61C-3B18-4C03-8326-CC3B32D710C9}" type="slidenum">
              <a:rPr lang="en-US" smtClean="0"/>
              <a:pPr/>
              <a:t>10</a:t>
            </a:fld>
            <a:endParaRPr lang="en-US"/>
          </a:p>
        </p:txBody>
      </p:sp>
      <p:sp>
        <p:nvSpPr>
          <p:cNvPr id="2" name="Title 1">
            <a:extLst>
              <a:ext uri="{FF2B5EF4-FFF2-40B4-BE49-F238E27FC236}">
                <a16:creationId xmlns:a16="http://schemas.microsoft.com/office/drawing/2014/main" id="{A0A65C01-2837-2D71-254F-BAEEC669F389}"/>
              </a:ext>
            </a:extLst>
          </p:cNvPr>
          <p:cNvSpPr>
            <a:spLocks noGrp="1"/>
          </p:cNvSpPr>
          <p:nvPr>
            <p:ph type="title"/>
          </p:nvPr>
        </p:nvSpPr>
        <p:spPr>
          <a:xfrm>
            <a:off x="445353" y="1002965"/>
            <a:ext cx="10515600" cy="575321"/>
          </a:xfrm>
        </p:spPr>
        <p:txBody>
          <a:bodyPr/>
          <a:lstStyle/>
          <a:p>
            <a:r>
              <a:rPr lang="en-US"/>
              <a:t>OUTPUTs</a:t>
            </a:r>
            <a:endParaRPr lang="en-US">
              <a:cs typeface="Arial"/>
            </a:endParaRPr>
          </a:p>
        </p:txBody>
      </p:sp>
      <p:sp>
        <p:nvSpPr>
          <p:cNvPr id="3" name="Text Placeholder 2">
            <a:extLst>
              <a:ext uri="{FF2B5EF4-FFF2-40B4-BE49-F238E27FC236}">
                <a16:creationId xmlns:a16="http://schemas.microsoft.com/office/drawing/2014/main" id="{D4E415E3-14A0-A72D-A46D-6FEE3390EAAF}"/>
              </a:ext>
            </a:extLst>
          </p:cNvPr>
          <p:cNvSpPr>
            <a:spLocks noGrp="1"/>
          </p:cNvSpPr>
          <p:nvPr>
            <p:ph type="body" sz="quarter" idx="13"/>
          </p:nvPr>
        </p:nvSpPr>
        <p:spPr>
          <a:xfrm>
            <a:off x="606092" y="1951007"/>
            <a:ext cx="11182823" cy="4501818"/>
          </a:xfrm>
        </p:spPr>
        <p:txBody>
          <a:bodyPr vert="horz" lIns="91440" tIns="45720" rIns="91440" bIns="45720" rtlCol="0" anchor="t">
            <a:noAutofit/>
          </a:bodyPr>
          <a:lstStyle/>
          <a:p>
            <a:pPr marL="457200" indent="-457200">
              <a:buAutoNum type="alphaUcPeriod"/>
            </a:pPr>
            <a:r>
              <a:rPr lang="en-US" sz="2800">
                <a:ea typeface="+mn-lt"/>
                <a:cs typeface="+mn-lt"/>
              </a:rPr>
              <a:t>Product-Wise Sales Summary for Stakeholder Analysis</a:t>
            </a:r>
          </a:p>
          <a:p>
            <a:endParaRPr lang="en-US" b="0">
              <a:ea typeface="+mn-lt"/>
              <a:cs typeface="+mn-lt"/>
            </a:endParaRPr>
          </a:p>
          <a:p>
            <a:r>
              <a:rPr lang="en-US" sz="1600" b="0">
                <a:ea typeface="+mn-lt"/>
                <a:cs typeface="+mn-lt"/>
              </a:rPr>
              <a:t>To enable effective decision-making, a stakeholder requested a report summarizing the </a:t>
            </a:r>
            <a:r>
              <a:rPr lang="en-US" sz="1600">
                <a:ea typeface="+mn-lt"/>
                <a:cs typeface="+mn-lt"/>
              </a:rPr>
              <a:t>total quantity sold for each product</a:t>
            </a:r>
            <a:r>
              <a:rPr lang="en-US" sz="1600" b="0">
                <a:ea typeface="+mn-lt"/>
                <a:cs typeface="+mn-lt"/>
              </a:rPr>
              <a:t>, along with other essential details like product name, category, unit price, and total sales amount.</a:t>
            </a:r>
            <a:endParaRPr lang="en-US" sz="1600">
              <a:cs typeface="Arial"/>
            </a:endParaRPr>
          </a:p>
          <a:p>
            <a:r>
              <a:rPr lang="en-US" sz="1600" b="0">
                <a:ea typeface="+mn-lt"/>
                <a:cs typeface="+mn-lt"/>
              </a:rPr>
              <a:t>We generated a </a:t>
            </a:r>
            <a:r>
              <a:rPr lang="en-US" sz="1600">
                <a:ea typeface="+mn-lt"/>
                <a:cs typeface="+mn-lt"/>
              </a:rPr>
              <a:t>Google Cloud Storage link</a:t>
            </a:r>
            <a:r>
              <a:rPr lang="en-US" sz="1600" b="0">
                <a:ea typeface="+mn-lt"/>
                <a:cs typeface="+mn-lt"/>
              </a:rPr>
              <a:t> to a structured </a:t>
            </a:r>
            <a:r>
              <a:rPr lang="en-US" sz="1600" b="0">
                <a:latin typeface="Consolas"/>
                <a:cs typeface="Arial"/>
              </a:rPr>
              <a:t>.csv</a:t>
            </a:r>
            <a:r>
              <a:rPr lang="en-US" sz="1600" b="0">
                <a:ea typeface="+mn-lt"/>
                <a:cs typeface="+mn-lt"/>
              </a:rPr>
              <a:t> file containing the following columns:</a:t>
            </a:r>
            <a:endParaRPr lang="en-US" sz="1600">
              <a:cs typeface="Arial"/>
            </a:endParaRPr>
          </a:p>
          <a:p>
            <a:pPr marL="285750" indent="-285750">
              <a:buFont typeface="Arial"/>
              <a:buChar char="•"/>
            </a:pPr>
            <a:r>
              <a:rPr lang="en-US" sz="1600" b="0" err="1">
                <a:latin typeface="Consolas"/>
                <a:cs typeface="Arial"/>
              </a:rPr>
              <a:t>ProductID</a:t>
            </a:r>
            <a:r>
              <a:rPr lang="en-US" sz="1600" b="0">
                <a:latin typeface="Consolas"/>
                <a:cs typeface="Arial"/>
              </a:rPr>
              <a:t> (</a:t>
            </a:r>
            <a:r>
              <a:rPr lang="en-US" sz="1600" b="0" err="1">
                <a:latin typeface="Consolas"/>
                <a:cs typeface="Arial"/>
              </a:rPr>
              <a:t>PId</a:t>
            </a:r>
            <a:r>
              <a:rPr lang="en-US" sz="1600" b="0">
                <a:latin typeface="Consolas"/>
                <a:cs typeface="Arial"/>
              </a:rPr>
              <a:t>)</a:t>
            </a:r>
            <a:endParaRPr lang="en-US" sz="1600">
              <a:cs typeface="Arial"/>
            </a:endParaRPr>
          </a:p>
          <a:p>
            <a:pPr marL="285750" indent="-285750">
              <a:buFont typeface="Arial"/>
              <a:buChar char="•"/>
            </a:pPr>
            <a:r>
              <a:rPr lang="en-US" sz="1600" b="0">
                <a:latin typeface="Consolas"/>
                <a:cs typeface="Arial"/>
              </a:rPr>
              <a:t>ProductName (</a:t>
            </a:r>
            <a:r>
              <a:rPr lang="en-US" sz="1600" b="0" err="1">
                <a:latin typeface="Consolas"/>
                <a:cs typeface="Arial"/>
              </a:rPr>
              <a:t>Pname</a:t>
            </a:r>
            <a:r>
              <a:rPr lang="en-US" sz="1600" b="0">
                <a:latin typeface="Consolas"/>
                <a:cs typeface="Arial"/>
              </a:rPr>
              <a:t>)</a:t>
            </a:r>
            <a:endParaRPr lang="en-US" sz="1600">
              <a:cs typeface="Arial"/>
            </a:endParaRPr>
          </a:p>
          <a:p>
            <a:pPr marL="285750" indent="-285750">
              <a:buFont typeface="Arial"/>
              <a:buChar char="•"/>
            </a:pPr>
            <a:r>
              <a:rPr lang="en-US" sz="1600" b="0">
                <a:latin typeface="Consolas"/>
                <a:cs typeface="Arial"/>
              </a:rPr>
              <a:t>Category (</a:t>
            </a:r>
            <a:r>
              <a:rPr lang="en-US" sz="1600" b="0" err="1">
                <a:latin typeface="Consolas"/>
                <a:cs typeface="Arial"/>
              </a:rPr>
              <a:t>PCategory</a:t>
            </a:r>
            <a:r>
              <a:rPr lang="en-US" sz="1600" b="0">
                <a:latin typeface="Consolas"/>
                <a:cs typeface="Arial"/>
              </a:rPr>
              <a:t>)</a:t>
            </a:r>
            <a:endParaRPr lang="en-US" sz="1600">
              <a:cs typeface="Arial"/>
            </a:endParaRPr>
          </a:p>
          <a:p>
            <a:pPr marL="285750" indent="-285750">
              <a:buFont typeface="Arial"/>
              <a:buChar char="•"/>
            </a:pPr>
            <a:r>
              <a:rPr lang="en-US" sz="1600" b="0" err="1">
                <a:latin typeface="Consolas"/>
                <a:cs typeface="Arial"/>
              </a:rPr>
              <a:t>QuantitySold</a:t>
            </a:r>
            <a:r>
              <a:rPr lang="en-US" sz="1600" b="0">
                <a:latin typeface="Consolas"/>
                <a:cs typeface="Arial"/>
              </a:rPr>
              <a:t> (</a:t>
            </a:r>
            <a:r>
              <a:rPr lang="en-US" sz="1600" b="0" err="1">
                <a:latin typeface="Consolas"/>
                <a:cs typeface="Arial"/>
              </a:rPr>
              <a:t>QtySold</a:t>
            </a:r>
            <a:r>
              <a:rPr lang="en-US" sz="1600" b="0">
                <a:latin typeface="Consolas"/>
                <a:cs typeface="Arial"/>
              </a:rPr>
              <a:t>)</a:t>
            </a:r>
            <a:endParaRPr lang="en-US" sz="1600">
              <a:cs typeface="Arial"/>
            </a:endParaRPr>
          </a:p>
          <a:p>
            <a:pPr marL="285750" indent="-285750">
              <a:buFont typeface="Arial"/>
              <a:buChar char="•"/>
            </a:pPr>
            <a:r>
              <a:rPr lang="en-US" sz="1600" b="0" err="1">
                <a:latin typeface="Consolas"/>
                <a:cs typeface="Arial"/>
              </a:rPr>
              <a:t>UnitPrice</a:t>
            </a:r>
            <a:r>
              <a:rPr lang="en-US" sz="1600" b="0">
                <a:latin typeface="Consolas"/>
                <a:cs typeface="Arial"/>
              </a:rPr>
              <a:t> (Price)</a:t>
            </a:r>
            <a:endParaRPr lang="en-US" sz="1600">
              <a:cs typeface="Arial"/>
            </a:endParaRPr>
          </a:p>
          <a:p>
            <a:pPr marL="285750" indent="-285750">
              <a:buFont typeface="Arial"/>
              <a:buChar char="•"/>
            </a:pPr>
            <a:r>
              <a:rPr lang="en-US" sz="1600" b="0" err="1">
                <a:latin typeface="Consolas"/>
                <a:cs typeface="Arial"/>
              </a:rPr>
              <a:t>TotalAmount</a:t>
            </a:r>
            <a:r>
              <a:rPr lang="en-US" sz="1600" b="0">
                <a:latin typeface="Consolas"/>
                <a:cs typeface="Arial"/>
              </a:rPr>
              <a:t> (</a:t>
            </a:r>
            <a:r>
              <a:rPr lang="en-US" sz="1600" b="0" err="1">
                <a:latin typeface="Consolas"/>
                <a:cs typeface="Arial"/>
              </a:rPr>
              <a:t>QtySold</a:t>
            </a:r>
            <a:r>
              <a:rPr lang="en-US" sz="1600" b="0">
                <a:latin typeface="Consolas"/>
                <a:cs typeface="Arial"/>
              </a:rPr>
              <a:t> × Price)</a:t>
            </a:r>
            <a:endParaRPr lang="en-US" sz="1600">
              <a:cs typeface="Arial"/>
            </a:endParaRPr>
          </a:p>
          <a:p>
            <a:pPr marL="285750" indent="-285750">
              <a:buFont typeface="Arial"/>
              <a:buChar char="•"/>
            </a:pPr>
            <a:endParaRPr lang="en-US" sz="1600" b="0">
              <a:latin typeface="Consolas"/>
              <a:ea typeface="+mn-lt"/>
              <a:cs typeface="+mn-lt"/>
            </a:endParaRPr>
          </a:p>
          <a:p>
            <a:r>
              <a:rPr lang="en-US" b="0">
                <a:solidFill>
                  <a:srgbClr val="000000"/>
                </a:solidFill>
                <a:ea typeface="+mn-lt"/>
                <a:cs typeface="+mn-lt"/>
                <a:hlinkClick r:id="rId2"/>
              </a:rPr>
              <a:t>https://storage.googleapis.com/srilanka-p2/bquxjob_4b5a17c6_196f920182d.csv</a:t>
            </a:r>
            <a:endParaRPr lang="en-US">
              <a:cs typeface="Arial"/>
            </a:endParaRPr>
          </a:p>
          <a:p>
            <a:r>
              <a:rPr lang="en-US" sz="1600" b="0">
                <a:ea typeface="+mn-lt"/>
                <a:cs typeface="+mn-lt"/>
              </a:rPr>
              <a:t>This file allows the stakeholder to independently </a:t>
            </a:r>
            <a:r>
              <a:rPr lang="en-US" sz="1600">
                <a:ea typeface="+mn-lt"/>
                <a:cs typeface="+mn-lt"/>
              </a:rPr>
              <a:t>analyze, filter, or visualize</a:t>
            </a:r>
            <a:r>
              <a:rPr lang="en-US" sz="1600" b="0">
                <a:ea typeface="+mn-lt"/>
                <a:cs typeface="+mn-lt"/>
              </a:rPr>
              <a:t> product performance across countries using Excel or Google Sheets.</a:t>
            </a:r>
            <a:endParaRPr lang="en-US" sz="1600">
              <a:cs typeface="Arial"/>
            </a:endParaRPr>
          </a:p>
          <a:p>
            <a:endParaRPr lang="en-US" b="0">
              <a:cs typeface="Arial"/>
            </a:endParaRPr>
          </a:p>
        </p:txBody>
      </p:sp>
    </p:spTree>
    <p:extLst>
      <p:ext uri="{BB962C8B-B14F-4D97-AF65-F5344CB8AC3E}">
        <p14:creationId xmlns:p14="http://schemas.microsoft.com/office/powerpoint/2010/main" val="3274647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EEAEDB1-154F-D3DA-535C-A0C3BD0069E5}"/>
              </a:ext>
            </a:extLst>
          </p:cNvPr>
          <p:cNvSpPr>
            <a:spLocks noGrp="1"/>
          </p:cNvSpPr>
          <p:nvPr>
            <p:ph type="ftr" sz="quarter" idx="11"/>
          </p:nvPr>
        </p:nvSpPr>
        <p:spPr/>
        <p:txBody>
          <a:bodyPr/>
          <a:lstStyle/>
          <a:p>
            <a:r>
              <a:rPr lang="en-US">
                <a:cs typeface="Arial"/>
              </a:rPr>
              <a:t>Global Sales Analysis</a:t>
            </a:r>
            <a:endParaRPr lang="en-US"/>
          </a:p>
        </p:txBody>
      </p:sp>
      <p:sp>
        <p:nvSpPr>
          <p:cNvPr id="3" name="Slide Number Placeholder 2">
            <a:extLst>
              <a:ext uri="{FF2B5EF4-FFF2-40B4-BE49-F238E27FC236}">
                <a16:creationId xmlns:a16="http://schemas.microsoft.com/office/drawing/2014/main" id="{CA7A75E5-89A0-8A26-8C59-A614F4B63383}"/>
              </a:ext>
            </a:extLst>
          </p:cNvPr>
          <p:cNvSpPr>
            <a:spLocks noGrp="1"/>
          </p:cNvSpPr>
          <p:nvPr>
            <p:ph type="sldNum" sz="quarter" idx="12"/>
          </p:nvPr>
        </p:nvSpPr>
        <p:spPr/>
        <p:txBody>
          <a:bodyPr/>
          <a:lstStyle/>
          <a:p>
            <a:fld id="{5BFCF61C-3B18-4C03-8326-CC3B32D710C9}" type="slidenum">
              <a:rPr lang="en-US" noProof="0" smtClean="0"/>
              <a:pPr/>
              <a:t>11</a:t>
            </a:fld>
            <a:endParaRPr lang="en-US" noProof="0"/>
          </a:p>
        </p:txBody>
      </p:sp>
      <p:sp>
        <p:nvSpPr>
          <p:cNvPr id="5" name="Text Placeholder 4">
            <a:extLst>
              <a:ext uri="{FF2B5EF4-FFF2-40B4-BE49-F238E27FC236}">
                <a16:creationId xmlns:a16="http://schemas.microsoft.com/office/drawing/2014/main" id="{BB3B4A35-B262-2F95-9D7B-DA616775DD9A}"/>
              </a:ext>
            </a:extLst>
          </p:cNvPr>
          <p:cNvSpPr>
            <a:spLocks noGrp="1"/>
          </p:cNvSpPr>
          <p:nvPr>
            <p:ph type="body" sz="quarter" idx="13"/>
          </p:nvPr>
        </p:nvSpPr>
        <p:spPr>
          <a:xfrm>
            <a:off x="246658" y="872707"/>
            <a:ext cx="11082181" cy="849971"/>
          </a:xfrm>
        </p:spPr>
        <p:txBody>
          <a:bodyPr vert="horz" lIns="91440" tIns="45720" rIns="91440" bIns="45720" rtlCol="0" anchor="t">
            <a:noAutofit/>
          </a:bodyPr>
          <a:lstStyle/>
          <a:p>
            <a:r>
              <a:rPr lang="en-US" b="0">
                <a:ea typeface="+mn-lt"/>
                <a:cs typeface="+mn-lt"/>
              </a:rPr>
              <a:t>B. Visual Sales Analytics by Category &amp; Country for Stakeholder</a:t>
            </a:r>
            <a:endParaRPr lang="en-US"/>
          </a:p>
        </p:txBody>
      </p:sp>
      <p:pic>
        <p:nvPicPr>
          <p:cNvPr id="9" name="Picture 8" descr="A screen shot of a graph&#10;&#10;AI-generated content may be incorrect.">
            <a:extLst>
              <a:ext uri="{FF2B5EF4-FFF2-40B4-BE49-F238E27FC236}">
                <a16:creationId xmlns:a16="http://schemas.microsoft.com/office/drawing/2014/main" id="{97DC8C70-98E3-2761-D922-FED08FAD0CCF}"/>
              </a:ext>
            </a:extLst>
          </p:cNvPr>
          <p:cNvPicPr>
            <a:picLocks noChangeAspect="1"/>
          </p:cNvPicPr>
          <p:nvPr/>
        </p:nvPicPr>
        <p:blipFill>
          <a:blip r:embed="rId2"/>
          <a:stretch>
            <a:fillRect/>
          </a:stretch>
        </p:blipFill>
        <p:spPr>
          <a:xfrm>
            <a:off x="1930161" y="1332691"/>
            <a:ext cx="6563263" cy="4825221"/>
          </a:xfrm>
          <a:prstGeom prst="rect">
            <a:avLst/>
          </a:prstGeom>
        </p:spPr>
      </p:pic>
    </p:spTree>
    <p:extLst>
      <p:ext uri="{BB962C8B-B14F-4D97-AF65-F5344CB8AC3E}">
        <p14:creationId xmlns:p14="http://schemas.microsoft.com/office/powerpoint/2010/main" val="2071575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10CD43F-3093-D18B-48C1-A730F48C193D}"/>
              </a:ext>
            </a:extLst>
          </p:cNvPr>
          <p:cNvSpPr>
            <a:spLocks noGrp="1"/>
          </p:cNvSpPr>
          <p:nvPr>
            <p:ph type="ftr" sz="quarter" idx="11"/>
          </p:nvPr>
        </p:nvSpPr>
        <p:spPr/>
        <p:txBody>
          <a:bodyPr/>
          <a:lstStyle/>
          <a:p>
            <a:r>
              <a:rPr lang="en-US">
                <a:cs typeface="Arial"/>
              </a:rPr>
              <a:t>Global Sales Analysis</a:t>
            </a:r>
            <a:endParaRPr lang="en-US"/>
          </a:p>
        </p:txBody>
      </p:sp>
      <p:sp>
        <p:nvSpPr>
          <p:cNvPr id="3" name="Slide Number Placeholder 2">
            <a:extLst>
              <a:ext uri="{FF2B5EF4-FFF2-40B4-BE49-F238E27FC236}">
                <a16:creationId xmlns:a16="http://schemas.microsoft.com/office/drawing/2014/main" id="{A596FB36-00DC-101F-A5C4-5B13521288DC}"/>
              </a:ext>
            </a:extLst>
          </p:cNvPr>
          <p:cNvSpPr>
            <a:spLocks noGrp="1"/>
          </p:cNvSpPr>
          <p:nvPr>
            <p:ph type="sldNum" sz="quarter" idx="12"/>
          </p:nvPr>
        </p:nvSpPr>
        <p:spPr/>
        <p:txBody>
          <a:bodyPr/>
          <a:lstStyle/>
          <a:p>
            <a:fld id="{5BFCF61C-3B18-4C03-8326-CC3B32D710C9}" type="slidenum">
              <a:rPr lang="en-US" noProof="0" smtClean="0"/>
              <a:pPr/>
              <a:t>12</a:t>
            </a:fld>
            <a:endParaRPr lang="en-US" noProof="0"/>
          </a:p>
        </p:txBody>
      </p:sp>
      <p:sp>
        <p:nvSpPr>
          <p:cNvPr id="4" name="Title 3">
            <a:extLst>
              <a:ext uri="{FF2B5EF4-FFF2-40B4-BE49-F238E27FC236}">
                <a16:creationId xmlns:a16="http://schemas.microsoft.com/office/drawing/2014/main" id="{B52CF410-8D81-07FF-F9D4-F934D46355FC}"/>
              </a:ext>
            </a:extLst>
          </p:cNvPr>
          <p:cNvSpPr>
            <a:spLocks noGrp="1"/>
          </p:cNvSpPr>
          <p:nvPr>
            <p:ph type="title"/>
          </p:nvPr>
        </p:nvSpPr>
        <p:spPr>
          <a:xfrm>
            <a:off x="603504" y="945455"/>
            <a:ext cx="10515600" cy="575321"/>
          </a:xfrm>
        </p:spPr>
        <p:txBody>
          <a:bodyPr/>
          <a:lstStyle/>
          <a:p>
            <a:r>
              <a:rPr lang="en-US" sz="2000">
                <a:cs typeface="Arial"/>
              </a:rPr>
              <a:t>C.</a:t>
            </a:r>
            <a:r>
              <a:rPr lang="en-US" sz="2000">
                <a:ea typeface="+mj-lt"/>
                <a:cs typeface="+mj-lt"/>
              </a:rPr>
              <a:t> Tax Department Reporting</a:t>
            </a:r>
            <a:endParaRPr lang="en-US" sz="2000">
              <a:cs typeface="Arial"/>
            </a:endParaRPr>
          </a:p>
        </p:txBody>
      </p:sp>
      <p:pic>
        <p:nvPicPr>
          <p:cNvPr id="6" name="Picture 5" descr="A screenshot of a computer&#10;&#10;AI-generated content may be incorrect.">
            <a:extLst>
              <a:ext uri="{FF2B5EF4-FFF2-40B4-BE49-F238E27FC236}">
                <a16:creationId xmlns:a16="http://schemas.microsoft.com/office/drawing/2014/main" id="{C036BB5F-B971-6A6E-C10D-9F4A4ED40E3F}"/>
              </a:ext>
            </a:extLst>
          </p:cNvPr>
          <p:cNvPicPr>
            <a:picLocks noChangeAspect="1"/>
          </p:cNvPicPr>
          <p:nvPr/>
        </p:nvPicPr>
        <p:blipFill>
          <a:blip r:embed="rId2"/>
          <a:stretch>
            <a:fillRect/>
          </a:stretch>
        </p:blipFill>
        <p:spPr>
          <a:xfrm>
            <a:off x="1995758" y="1350843"/>
            <a:ext cx="6144524" cy="4745787"/>
          </a:xfrm>
          <a:prstGeom prst="rect">
            <a:avLst/>
          </a:prstGeom>
        </p:spPr>
      </p:pic>
    </p:spTree>
    <p:extLst>
      <p:ext uri="{BB962C8B-B14F-4D97-AF65-F5344CB8AC3E}">
        <p14:creationId xmlns:p14="http://schemas.microsoft.com/office/powerpoint/2010/main" val="2146186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30AB7E-7B1B-2EC3-30EF-8772E506F917}"/>
              </a:ext>
            </a:extLst>
          </p:cNvPr>
          <p:cNvSpPr>
            <a:spLocks noGrp="1"/>
          </p:cNvSpPr>
          <p:nvPr>
            <p:ph type="ftr" sz="quarter" idx="11"/>
          </p:nvPr>
        </p:nvSpPr>
        <p:spPr/>
        <p:txBody>
          <a:bodyPr/>
          <a:lstStyle/>
          <a:p>
            <a:r>
              <a:rPr lang="en-US">
                <a:cs typeface="Arial"/>
              </a:rPr>
              <a:t>Global Sales Analysis</a:t>
            </a:r>
            <a:endParaRPr lang="en-US"/>
          </a:p>
        </p:txBody>
      </p:sp>
      <p:sp>
        <p:nvSpPr>
          <p:cNvPr id="3" name="Slide Number Placeholder 2">
            <a:extLst>
              <a:ext uri="{FF2B5EF4-FFF2-40B4-BE49-F238E27FC236}">
                <a16:creationId xmlns:a16="http://schemas.microsoft.com/office/drawing/2014/main" id="{D04A1632-B65A-EBD5-60F6-07C67FD67E9F}"/>
              </a:ext>
            </a:extLst>
          </p:cNvPr>
          <p:cNvSpPr>
            <a:spLocks noGrp="1"/>
          </p:cNvSpPr>
          <p:nvPr>
            <p:ph type="sldNum" sz="quarter" idx="12"/>
          </p:nvPr>
        </p:nvSpPr>
        <p:spPr/>
        <p:txBody>
          <a:bodyPr/>
          <a:lstStyle/>
          <a:p>
            <a:fld id="{5BFCF61C-3B18-4C03-8326-CC3B32D710C9}" type="slidenum">
              <a:rPr lang="en-US" noProof="0" smtClean="0"/>
              <a:pPr/>
              <a:t>13</a:t>
            </a:fld>
            <a:endParaRPr lang="en-US" noProof="0"/>
          </a:p>
        </p:txBody>
      </p:sp>
      <p:sp>
        <p:nvSpPr>
          <p:cNvPr id="4" name="Title 3">
            <a:extLst>
              <a:ext uri="{FF2B5EF4-FFF2-40B4-BE49-F238E27FC236}">
                <a16:creationId xmlns:a16="http://schemas.microsoft.com/office/drawing/2014/main" id="{F4927992-81B8-075E-53A9-FE2F6E513442}"/>
              </a:ext>
            </a:extLst>
          </p:cNvPr>
          <p:cNvSpPr>
            <a:spLocks noGrp="1"/>
          </p:cNvSpPr>
          <p:nvPr>
            <p:ph type="title"/>
          </p:nvPr>
        </p:nvSpPr>
        <p:spPr>
          <a:xfrm>
            <a:off x="488485" y="873568"/>
            <a:ext cx="10515600" cy="575321"/>
          </a:xfrm>
        </p:spPr>
        <p:txBody>
          <a:bodyPr/>
          <a:lstStyle/>
          <a:p>
            <a:r>
              <a:rPr lang="en-US" sz="2000">
                <a:cs typeface="Arial"/>
              </a:rPr>
              <a:t>D. SALES ANALYSIS FOR OUR TEAM TO UNDERSTAND INSIGHTS</a:t>
            </a:r>
          </a:p>
        </p:txBody>
      </p:sp>
      <p:pic>
        <p:nvPicPr>
          <p:cNvPr id="9" name="Picture 8" descr="A screenshot of a graph&#10;&#10;AI-generated content may be incorrect.">
            <a:extLst>
              <a:ext uri="{FF2B5EF4-FFF2-40B4-BE49-F238E27FC236}">
                <a16:creationId xmlns:a16="http://schemas.microsoft.com/office/drawing/2014/main" id="{DF3DB4B1-065C-9EA2-3B8E-C06ED27B622C}"/>
              </a:ext>
            </a:extLst>
          </p:cNvPr>
          <p:cNvPicPr>
            <a:picLocks noChangeAspect="1"/>
          </p:cNvPicPr>
          <p:nvPr/>
        </p:nvPicPr>
        <p:blipFill>
          <a:blip r:embed="rId2"/>
          <a:stretch>
            <a:fillRect/>
          </a:stretch>
        </p:blipFill>
        <p:spPr>
          <a:xfrm>
            <a:off x="1861329" y="1288661"/>
            <a:ext cx="6168967" cy="4870152"/>
          </a:xfrm>
          <a:prstGeom prst="rect">
            <a:avLst/>
          </a:prstGeom>
        </p:spPr>
      </p:pic>
    </p:spTree>
    <p:extLst>
      <p:ext uri="{BB962C8B-B14F-4D97-AF65-F5344CB8AC3E}">
        <p14:creationId xmlns:p14="http://schemas.microsoft.com/office/powerpoint/2010/main" val="1551679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B2FD4-8590-8656-FF21-2C026A773E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512666-F57C-6AB1-0E8E-B52A44F560DD}"/>
              </a:ext>
            </a:extLst>
          </p:cNvPr>
          <p:cNvSpPr>
            <a:spLocks noGrp="1"/>
          </p:cNvSpPr>
          <p:nvPr>
            <p:ph type="ftr" sz="quarter" idx="11"/>
          </p:nvPr>
        </p:nvSpPr>
        <p:spPr/>
        <p:txBody>
          <a:bodyPr/>
          <a:lstStyle/>
          <a:p>
            <a:r>
              <a:rPr lang="en-US">
                <a:cs typeface="Arial"/>
              </a:rPr>
              <a:t>Global Sales Analysis</a:t>
            </a:r>
            <a:endParaRPr lang="en-US"/>
          </a:p>
        </p:txBody>
      </p:sp>
      <p:sp>
        <p:nvSpPr>
          <p:cNvPr id="3" name="Slide Number Placeholder 2">
            <a:extLst>
              <a:ext uri="{FF2B5EF4-FFF2-40B4-BE49-F238E27FC236}">
                <a16:creationId xmlns:a16="http://schemas.microsoft.com/office/drawing/2014/main" id="{1C57510D-6BC6-A612-607A-BCCE1B3C7853}"/>
              </a:ext>
            </a:extLst>
          </p:cNvPr>
          <p:cNvSpPr>
            <a:spLocks noGrp="1"/>
          </p:cNvSpPr>
          <p:nvPr>
            <p:ph type="sldNum" sz="quarter" idx="12"/>
          </p:nvPr>
        </p:nvSpPr>
        <p:spPr/>
        <p:txBody>
          <a:bodyPr/>
          <a:lstStyle/>
          <a:p>
            <a:fld id="{5BFCF61C-3B18-4C03-8326-CC3B32D710C9}" type="slidenum">
              <a:rPr lang="en-US" noProof="0" smtClean="0"/>
              <a:pPr/>
              <a:t>14</a:t>
            </a:fld>
            <a:endParaRPr lang="en-US" noProof="0"/>
          </a:p>
        </p:txBody>
      </p:sp>
      <p:sp>
        <p:nvSpPr>
          <p:cNvPr id="4" name="Title 3">
            <a:extLst>
              <a:ext uri="{FF2B5EF4-FFF2-40B4-BE49-F238E27FC236}">
                <a16:creationId xmlns:a16="http://schemas.microsoft.com/office/drawing/2014/main" id="{BA6D0A7D-1086-8E5E-C562-2D4883BA597E}"/>
              </a:ext>
            </a:extLst>
          </p:cNvPr>
          <p:cNvSpPr>
            <a:spLocks noGrp="1"/>
          </p:cNvSpPr>
          <p:nvPr>
            <p:ph type="title"/>
          </p:nvPr>
        </p:nvSpPr>
        <p:spPr>
          <a:xfrm>
            <a:off x="589127" y="959832"/>
            <a:ext cx="10515600" cy="575321"/>
          </a:xfrm>
        </p:spPr>
        <p:txBody>
          <a:bodyPr/>
          <a:lstStyle/>
          <a:p>
            <a:r>
              <a:rPr lang="en-US" sz="2400">
                <a:cs typeface="Arial"/>
              </a:rPr>
              <a:t>e.</a:t>
            </a:r>
            <a:r>
              <a:rPr lang="en-US" sz="2400">
                <a:ea typeface="+mj-lt"/>
                <a:cs typeface="+mj-lt"/>
              </a:rPr>
              <a:t> Unified Design &amp; Branding in Dashboards</a:t>
            </a:r>
            <a:r>
              <a:rPr lang="en-US" sz="2400">
                <a:cs typeface="Arial"/>
              </a:rPr>
              <a:t> </a:t>
            </a:r>
            <a:endParaRPr lang="en-US" sz="2400"/>
          </a:p>
        </p:txBody>
      </p:sp>
      <p:pic>
        <p:nvPicPr>
          <p:cNvPr id="5" name="Picture 4" descr="A screenshot of a graph&#10;&#10;AI-generated content may be incorrect.">
            <a:extLst>
              <a:ext uri="{FF2B5EF4-FFF2-40B4-BE49-F238E27FC236}">
                <a16:creationId xmlns:a16="http://schemas.microsoft.com/office/drawing/2014/main" id="{0DFD75FC-277C-2A24-E641-DFBB3FEFA4AC}"/>
              </a:ext>
            </a:extLst>
          </p:cNvPr>
          <p:cNvPicPr>
            <a:picLocks noChangeAspect="1"/>
          </p:cNvPicPr>
          <p:nvPr/>
        </p:nvPicPr>
        <p:blipFill>
          <a:blip r:embed="rId2"/>
          <a:stretch>
            <a:fillRect/>
          </a:stretch>
        </p:blipFill>
        <p:spPr>
          <a:xfrm>
            <a:off x="1008842" y="1528763"/>
            <a:ext cx="5789224" cy="4389947"/>
          </a:xfrm>
          <a:prstGeom prst="rect">
            <a:avLst/>
          </a:prstGeom>
        </p:spPr>
      </p:pic>
    </p:spTree>
    <p:extLst>
      <p:ext uri="{BB962C8B-B14F-4D97-AF65-F5344CB8AC3E}">
        <p14:creationId xmlns:p14="http://schemas.microsoft.com/office/powerpoint/2010/main" val="13371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E563-D2B2-A0AD-3574-E8C8FDCE3DAC}"/>
              </a:ext>
            </a:extLst>
          </p:cNvPr>
          <p:cNvSpPr>
            <a:spLocks noGrp="1"/>
          </p:cNvSpPr>
          <p:nvPr>
            <p:ph type="title"/>
          </p:nvPr>
        </p:nvSpPr>
        <p:spPr>
          <a:xfrm>
            <a:off x="6316698" y="1921934"/>
            <a:ext cx="5608320" cy="3023304"/>
          </a:xfrm>
        </p:spPr>
        <p:txBody>
          <a:bodyPr/>
          <a:lstStyle/>
          <a:p>
            <a:r>
              <a:rPr lang="en-US">
                <a:cs typeface="Arial"/>
              </a:rPr>
              <a:t>FUTURE </a:t>
            </a:r>
            <a:br>
              <a:rPr lang="en-US">
                <a:cs typeface="Arial"/>
              </a:rPr>
            </a:br>
            <a:r>
              <a:rPr lang="en-US">
                <a:cs typeface="Arial"/>
              </a:rPr>
              <a:t>PLANS &amp;</a:t>
            </a:r>
            <a:br>
              <a:rPr lang="en-US">
                <a:cs typeface="Arial"/>
              </a:rPr>
            </a:br>
            <a:r>
              <a:rPr lang="en-US">
                <a:cs typeface="Arial"/>
              </a:rPr>
              <a:t>ENHANCEMENTS</a:t>
            </a:r>
          </a:p>
        </p:txBody>
      </p:sp>
      <p:sp>
        <p:nvSpPr>
          <p:cNvPr id="13" name="Footer Placeholder 12">
            <a:extLst>
              <a:ext uri="{FF2B5EF4-FFF2-40B4-BE49-F238E27FC236}">
                <a16:creationId xmlns:a16="http://schemas.microsoft.com/office/drawing/2014/main" id="{B83AAE15-CE16-991A-C05F-0BD97418193D}"/>
              </a:ext>
            </a:extLst>
          </p:cNvPr>
          <p:cNvSpPr>
            <a:spLocks noGrp="1"/>
          </p:cNvSpPr>
          <p:nvPr>
            <p:ph type="ftr" sz="quarter" idx="11"/>
          </p:nvPr>
        </p:nvSpPr>
        <p:spPr/>
        <p:txBody>
          <a:bodyPr/>
          <a:lstStyle/>
          <a:p>
            <a:r>
              <a:rPr lang="en-US">
                <a:cs typeface="Arial"/>
              </a:rPr>
              <a:t>Global Sales Analysis</a:t>
            </a:r>
          </a:p>
        </p:txBody>
      </p:sp>
      <p:sp>
        <p:nvSpPr>
          <p:cNvPr id="3" name="Text Placeholder 2">
            <a:extLst>
              <a:ext uri="{FF2B5EF4-FFF2-40B4-BE49-F238E27FC236}">
                <a16:creationId xmlns:a16="http://schemas.microsoft.com/office/drawing/2014/main" id="{0E2A819C-8720-05AC-589D-CCF280D381A0}"/>
              </a:ext>
            </a:extLst>
          </p:cNvPr>
          <p:cNvSpPr>
            <a:spLocks noGrp="1"/>
          </p:cNvSpPr>
          <p:nvPr>
            <p:ph type="body" sz="quarter" idx="13"/>
          </p:nvPr>
        </p:nvSpPr>
        <p:spPr>
          <a:xfrm>
            <a:off x="602714" y="1097506"/>
            <a:ext cx="4828032" cy="490538"/>
          </a:xfrm>
        </p:spPr>
        <p:txBody>
          <a:bodyPr vert="horz" lIns="91440" tIns="45720" rIns="91440" bIns="45720" rtlCol="0" anchor="t">
            <a:noAutofit/>
          </a:bodyPr>
          <a:lstStyle/>
          <a:p>
            <a:r>
              <a:rPr lang="en-US">
                <a:cs typeface="Arial"/>
              </a:rPr>
              <a:t>ENHANCEMENTS</a:t>
            </a:r>
            <a:endParaRPr lang="en-US"/>
          </a:p>
        </p:txBody>
      </p:sp>
      <p:sp>
        <p:nvSpPr>
          <p:cNvPr id="12" name="Text Placeholder 11">
            <a:extLst>
              <a:ext uri="{FF2B5EF4-FFF2-40B4-BE49-F238E27FC236}">
                <a16:creationId xmlns:a16="http://schemas.microsoft.com/office/drawing/2014/main" id="{0D775342-B398-D058-62EA-D657A2192D69}"/>
              </a:ext>
            </a:extLst>
          </p:cNvPr>
          <p:cNvSpPr>
            <a:spLocks noGrp="1"/>
          </p:cNvSpPr>
          <p:nvPr>
            <p:ph type="body" sz="quarter" idx="15"/>
          </p:nvPr>
        </p:nvSpPr>
        <p:spPr>
          <a:xfrm>
            <a:off x="408093" y="1749891"/>
            <a:ext cx="5206435" cy="1837971"/>
          </a:xfrm>
        </p:spPr>
        <p:txBody>
          <a:bodyPr vert="horz" lIns="91440" tIns="45720" rIns="91440" bIns="45720" rtlCol="0" anchor="t">
            <a:noAutofit/>
          </a:bodyPr>
          <a:lstStyle/>
          <a:p>
            <a:pPr marL="283210" indent="-283210"/>
            <a:r>
              <a:rPr lang="en-US" b="1" dirty="0">
                <a:ea typeface="+mn-lt"/>
                <a:cs typeface="+mn-lt"/>
              </a:rPr>
              <a:t>Real-Time ETL</a:t>
            </a:r>
            <a:r>
              <a:rPr lang="en-US" dirty="0">
                <a:ea typeface="+mn-lt"/>
                <a:cs typeface="+mn-lt"/>
              </a:rPr>
              <a:t> using Pub/Sub and Dataflow for live ingestion.</a:t>
            </a:r>
            <a:endParaRPr lang="en-US" dirty="0">
              <a:cs typeface="Arial"/>
            </a:endParaRPr>
          </a:p>
          <a:p>
            <a:pPr marL="283210" indent="-283210"/>
            <a:r>
              <a:rPr lang="en-US" b="1" dirty="0">
                <a:ea typeface="+mn-lt"/>
                <a:cs typeface="+mn-lt"/>
              </a:rPr>
              <a:t>Language Translation</a:t>
            </a:r>
            <a:r>
              <a:rPr lang="en-US" dirty="0">
                <a:ea typeface="+mn-lt"/>
                <a:cs typeface="+mn-lt"/>
              </a:rPr>
              <a:t> using Cloud Translate API for non-English inputs</a:t>
            </a:r>
            <a:endParaRPr lang="en-US" dirty="0"/>
          </a:p>
          <a:p>
            <a:pPr marL="283210" indent="-283210"/>
            <a:r>
              <a:rPr lang="en-US" b="1" dirty="0">
                <a:ea typeface="+mn-lt"/>
                <a:cs typeface="+mn-lt"/>
              </a:rPr>
              <a:t>Product Recommendation System</a:t>
            </a:r>
            <a:r>
              <a:rPr lang="en-US" dirty="0">
                <a:ea typeface="+mn-lt"/>
                <a:cs typeface="+mn-lt"/>
              </a:rPr>
              <a:t> using advanced ML models.</a:t>
            </a:r>
            <a:endParaRPr lang="en-US" dirty="0"/>
          </a:p>
          <a:p>
            <a:pPr marL="283210" indent="-283210"/>
            <a:r>
              <a:rPr lang="en-US" b="1" dirty="0">
                <a:ea typeface="+mn-lt"/>
                <a:cs typeface="+mn-lt"/>
              </a:rPr>
              <a:t>User Role Dashboards</a:t>
            </a:r>
            <a:r>
              <a:rPr lang="en-US" dirty="0">
                <a:ea typeface="+mn-lt"/>
                <a:cs typeface="+mn-lt"/>
              </a:rPr>
              <a:t> with customized views (admin, sales, finance).</a:t>
            </a:r>
            <a:endParaRPr lang="en-US" dirty="0"/>
          </a:p>
          <a:p>
            <a:pPr marL="283210" indent="-283210"/>
            <a:r>
              <a:rPr lang="en-US" b="1" dirty="0">
                <a:ea typeface="+mn-lt"/>
                <a:cs typeface="+mn-lt"/>
              </a:rPr>
              <a:t>Automated Email Reports</a:t>
            </a:r>
            <a:r>
              <a:rPr lang="en-US" dirty="0">
                <a:ea typeface="+mn-lt"/>
                <a:cs typeface="+mn-lt"/>
              </a:rPr>
              <a:t> using Cloud Functions + Gmail API.</a:t>
            </a:r>
            <a:endParaRPr lang="en-US" dirty="0"/>
          </a:p>
          <a:p>
            <a:pPr marL="283210" indent="-283210"/>
            <a:endParaRPr lang="en-US">
              <a:cs typeface="Arial"/>
            </a:endParaRPr>
          </a:p>
        </p:txBody>
      </p:sp>
      <p:sp>
        <p:nvSpPr>
          <p:cNvPr id="14" name="Slide Number Placeholder 13">
            <a:extLst>
              <a:ext uri="{FF2B5EF4-FFF2-40B4-BE49-F238E27FC236}">
                <a16:creationId xmlns:a16="http://schemas.microsoft.com/office/drawing/2014/main" id="{CB66A1BD-2500-AB18-9DCA-0585F33C2410}"/>
              </a:ext>
            </a:extLst>
          </p:cNvPr>
          <p:cNvSpPr>
            <a:spLocks noGrp="1"/>
          </p:cNvSpPr>
          <p:nvPr>
            <p:ph type="sldNum" sz="quarter" idx="12"/>
          </p:nvPr>
        </p:nvSpPr>
        <p:spPr/>
        <p:txBody>
          <a:bodyPr/>
          <a:lstStyle/>
          <a:p>
            <a:fld id="{5BFCF61C-3B18-4C03-8326-CC3B32D710C9}" type="slidenum">
              <a:rPr lang="en-US" smtClean="0"/>
              <a:pPr/>
              <a:t>15</a:t>
            </a:fld>
            <a:endParaRPr lang="en-US"/>
          </a:p>
        </p:txBody>
      </p:sp>
    </p:spTree>
    <p:extLst>
      <p:ext uri="{BB962C8B-B14F-4D97-AF65-F5344CB8AC3E}">
        <p14:creationId xmlns:p14="http://schemas.microsoft.com/office/powerpoint/2010/main" val="73848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64AE1-C6FD-2EFB-79A7-7C9A6C853EF8}"/>
              </a:ext>
            </a:extLst>
          </p:cNvPr>
          <p:cNvSpPr>
            <a:spLocks noGrp="1"/>
          </p:cNvSpPr>
          <p:nvPr>
            <p:ph type="title"/>
          </p:nvPr>
        </p:nvSpPr>
        <p:spPr>
          <a:xfrm>
            <a:off x="1297433" y="1031353"/>
            <a:ext cx="10329896" cy="1999150"/>
          </a:xfrm>
        </p:spPr>
        <p:txBody>
          <a:bodyPr/>
          <a:lstStyle/>
          <a:p>
            <a:r>
              <a:rPr lang="en-US"/>
              <a:t>Thank</a:t>
            </a:r>
            <a:br>
              <a:rPr lang="en-US"/>
            </a:br>
            <a:r>
              <a:rPr lang="en-US"/>
              <a:t>You</a:t>
            </a:r>
          </a:p>
        </p:txBody>
      </p:sp>
      <p:sp>
        <p:nvSpPr>
          <p:cNvPr id="3" name="Text Placeholder 2">
            <a:extLst>
              <a:ext uri="{FF2B5EF4-FFF2-40B4-BE49-F238E27FC236}">
                <a16:creationId xmlns:a16="http://schemas.microsoft.com/office/drawing/2014/main" id="{33FB47C1-128E-60DF-5281-30C3EFCAB395}"/>
              </a:ext>
            </a:extLst>
          </p:cNvPr>
          <p:cNvSpPr>
            <a:spLocks noGrp="1"/>
          </p:cNvSpPr>
          <p:nvPr>
            <p:ph type="body" sz="quarter" idx="10"/>
          </p:nvPr>
        </p:nvSpPr>
        <p:spPr>
          <a:xfrm>
            <a:off x="3647019" y="3185725"/>
            <a:ext cx="8544643" cy="2510818"/>
          </a:xfrm>
        </p:spPr>
        <p:txBody>
          <a:bodyPr vert="horz" lIns="91440" tIns="45720" rIns="91440" bIns="45720" rtlCol="0" anchor="t">
            <a:noAutofit/>
          </a:bodyPr>
          <a:lstStyle/>
          <a:p>
            <a:endParaRPr lang="en-US" sz="1800" b="0">
              <a:cs typeface="Arial"/>
            </a:endParaRPr>
          </a:p>
          <a:p>
            <a:r>
              <a:rPr lang="en-US" sz="1800" b="0">
                <a:cs typeface="Arial"/>
              </a:rPr>
              <a:t>CHEKITH-</a:t>
            </a:r>
            <a:r>
              <a:rPr lang="en-US" sz="1800" b="0">
                <a:ea typeface="+mn-lt"/>
                <a:cs typeface="+mn-lt"/>
              </a:rPr>
              <a:t>shankarpallychekith@gmail.com</a:t>
            </a:r>
            <a:endParaRPr lang="en-US" sz="1800" b="0">
              <a:cs typeface="Arial"/>
            </a:endParaRPr>
          </a:p>
          <a:p>
            <a:r>
              <a:rPr lang="en-US" sz="1800" b="0">
                <a:cs typeface="Arial"/>
              </a:rPr>
              <a:t>KOWSHIK-</a:t>
            </a:r>
            <a:r>
              <a:rPr lang="en-US" sz="1800" b="0">
                <a:ea typeface="+mn-lt"/>
                <a:cs typeface="+mn-lt"/>
              </a:rPr>
              <a:t>saikowshikmullaputi@gmail.com</a:t>
            </a:r>
          </a:p>
          <a:p>
            <a:r>
              <a:rPr lang="en-US" sz="1800" b="0">
                <a:cs typeface="Arial"/>
              </a:rPr>
              <a:t>SYED SAAD-</a:t>
            </a:r>
            <a:r>
              <a:rPr lang="en-US" sz="1800" b="0">
                <a:ea typeface="+mn-lt"/>
                <a:cs typeface="+mn-lt"/>
              </a:rPr>
              <a:t>s.saadbme@gmail.com</a:t>
            </a:r>
          </a:p>
          <a:p>
            <a:r>
              <a:rPr lang="en-US" sz="1800" b="0">
                <a:cs typeface="Arial"/>
              </a:rPr>
              <a:t>SREEJA-sreejaenabothula@gmail.com</a:t>
            </a:r>
          </a:p>
          <a:p>
            <a:r>
              <a:rPr lang="en-US" sz="1800" b="0">
                <a:cs typeface="Arial"/>
              </a:rPr>
              <a:t>MADHAN KISHORE-</a:t>
            </a:r>
            <a:r>
              <a:rPr lang="en-US" sz="1800" b="0">
                <a:ea typeface="+mn-lt"/>
                <a:cs typeface="+mn-lt"/>
              </a:rPr>
              <a:t>madhankishorebotlapati123@gmail.com</a:t>
            </a:r>
            <a:endParaRPr lang="en-US" sz="1800" b="0">
              <a:cs typeface="Arial"/>
            </a:endParaRPr>
          </a:p>
          <a:p>
            <a:endParaRPr lang="en-US">
              <a:cs typeface="Arial"/>
            </a:endParaRPr>
          </a:p>
          <a:p>
            <a:endParaRPr lang="en-US">
              <a:cs typeface="Arial"/>
            </a:endParaRPr>
          </a:p>
          <a:p>
            <a:endParaRPr lang="en-US">
              <a:cs typeface="Arial"/>
            </a:endParaRPr>
          </a:p>
        </p:txBody>
      </p:sp>
    </p:spTree>
    <p:extLst>
      <p:ext uri="{BB962C8B-B14F-4D97-AF65-F5344CB8AC3E}">
        <p14:creationId xmlns:p14="http://schemas.microsoft.com/office/powerpoint/2010/main" val="226236345"/>
      </p:ext>
    </p:extLst>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B4CAA5-BE7A-46AB-97ED-63B24C46A3A8}">
  <ds:schemaRefs>
    <ds:schemaRef ds:uri="http://schemas.microsoft.com/sharepoint/v3/contenttype/forms"/>
  </ds:schemaRefs>
</ds:datastoreItem>
</file>

<file path=customXml/itemProps2.xml><?xml version="1.0" encoding="utf-8"?>
<ds:datastoreItem xmlns:ds="http://schemas.openxmlformats.org/officeDocument/2006/customXml" ds:itemID="{411F98F7-6576-47F1-AD63-56E26C33974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5783CE7D-BFC6-4030-A335-E7F88DB66414}">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Slides>
  <Notes>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GLOBAL  SALES ANALYSIS</vt:lpstr>
      <vt:lpstr>ABSTRACT</vt:lpstr>
      <vt:lpstr>Technologies USED </vt:lpstr>
      <vt:lpstr>workflow</vt:lpstr>
      <vt:lpstr>Process of development</vt:lpstr>
      <vt:lpstr>Process of development </vt:lpstr>
      <vt:lpstr>Process of development</vt:lpstr>
      <vt:lpstr>Process of development</vt:lpstr>
      <vt:lpstr>PROCESS OF DEVELOPMENT</vt:lpstr>
      <vt:lpstr>OUTPUTs</vt:lpstr>
      <vt:lpstr>PowerPoint Presentation</vt:lpstr>
      <vt:lpstr>C. Tax Department Reporting</vt:lpstr>
      <vt:lpstr>D. SALES ANALYSIS FOR OUR TEAM TO UNDERSTAND INSIGHTS</vt:lpstr>
      <vt:lpstr>e. Unified Design &amp; Branding in Dashboards </vt:lpstr>
      <vt:lpstr>FUTURE  PLANS &amp;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7</cp:revision>
  <dcterms:created xsi:type="dcterms:W3CDTF">2025-05-22T06:45:01Z</dcterms:created>
  <dcterms:modified xsi:type="dcterms:W3CDTF">2025-05-23T09:23:39Z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